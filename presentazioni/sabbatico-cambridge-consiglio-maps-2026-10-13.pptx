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8" d="100"/>
          <a:sy n="98" d="100"/>
        </p:scale>
        <p:origin x="82"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213002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Grazie. In sette minuti vi riassumo il lavoro svolto durante il periodo sabbatico presso l'Università di Cambridge, al Department of Computer Science and Technology, nel gruppo del Prof. Pietro Liò. La scelta della sede risponde a una esigenza precisa: le linee di ricerca che porto avanti sono di natura computazionale e richiedono competenze di machine learning su grafi e di modellistica generativa che a Cambridge trovano un contesto difficilmente replicabile altrove. La collaborazione con il Prof. Liò era già attiva prima della partenza ed è diventata in questo periodo un lavoro quotidiano sulle componenti algoritmiche delle nostre procedure. Vi presento tre filoni di ricerca, le domande di finanziamento che ne sono derivate e il workshop internazionale organizzato a settembre.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 sono i numeri del periodo. Due lavori depositati come preprint su bioRxiv, uno sul disegno de novo di molecole e uno di genomica comparata. Un terzo manoscritto in preparazione sul riposizionamento di farmaci antibatterici. Sei domande di finanziamento competitivo presentate o tuttora in valutazione. Un workshop internazionale organizzato a Cambridge insieme al Prof. Liò e al Dott. Righelli. Le attività di calcolo si sono appoggiate in parte alla infrastruttura del nostro gruppo e in parte alle risorse rese disponibili dal finanziamento ricevuto. Una parte non trascurabile del tempo è andata alla riproducibilità delle procedure, aspetto poco appariscente ma decisivo quando si deve rispondere alle obiezioni dei revisori senza ricostruire ogni volta il lavoro dalle fondamenta.</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primo filone è LLMsFold. È una procedura di disegno de novo di molecole che integra tre componenti. Un modello linguistico di grandi dimensioni, LLaMA-3-70B, genera molecole come stringhe SMILES a partire dalla descrizione della tasca di legame, senza alcun addestramento dedicato. Boltz-2, un modello biofisico di co-folding, predice la struttura del complesso e l'affinità di legame. Un ciclo di reinforcement learning reimmette i candidati migliori nel prompt e li ottimizza. Abbiamo lavorato su due bersagli: ACVR1, la cui mutazione causa la fibrodisplasia ossificante progressiva, e CD19, antigene di superficie dei linfomi e delle leucemie a cellule B. Il punto pratico più rilevante è che l'intera procedura gira in pochi minuti su un portatile e non richiede cluster di calcolo. Il lavoro ha ricevuto il Meta LLaMA Impact Grant 2025, unico progetto europeo tra i dieci selezionati nel mondo, ed è disponibile come preprint su bioRxiv.</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secondo filone riguarda il riposizionamento di farmaci già approvati per individuare nuove classi di antibiotici contro Acinetobacter baumannii, uno dei patogeni più critici per la resistenza antimicrobica. Partiamo dai dati sperimentali pubblicati da Liu e colleghi su Nature Chemical Biology nel 2023 e addestriamo reti neurali su grafo sulle strutture molecolari con una analisi di interpretabilità che indica quali porzioni della molecola determinano la predizione. Dalla classifica dei candidati abbiamo selezionato tre molecole già approvate per altre indicazioni, ora in validazione sperimentale presso Charles River a Cambridge per concentrazione minima inibente e citotossicità. Il manoscritto è in preparazione. Il codice del modello e il protocollo di validazione sono stati ricostruiti integralmente, scelta che costa tempo ma che rende i risultati verificabili e difendibili davanti ai revisori.</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terzo filone è di genomica comparata. Abbiamo analizzato 753 genomi di vertebrati e 481 genomi di invertebrati come controllo. La domanda era se la perdita di CpG, dovuta alla deaminazione delle citosine metilate, organizzi la composizione dinucleotidica dei genomi. La risposta è affermativa ed è emerso un risultato inatteso. La firma più forte di questa perdita non è il prodotto diretto della reazione ma la coppia AG/CT. Un modello di evoluzione forward basato sui tassi di sostituzione della linea germinale umana misurati nel contesto di sette nucleotidi riproduce entrambi i fenomeni introducendo un solo parametro, calibrato soltanto sul CpG. Il segnale è concentrato negli elementi trasponibili e segue la linea degli amnioti più dell'endotermia. Il lavoro è su bioRxiv con Tania Bobbo del CNR, Alessio Boattini di Bologna, il Prof. Liò e la nostra dottoranda Wageesha Widuranga.</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periodo ha avuto un effetto rilevante anche sulla progettualità futura. Al Centro Nazionale ICSC per il calcolo ad alte prestazioni abbiamo presentato due progetti. ABGEN riguarda la scoperta de novo di antibiotici e vede Padova come unità co-proponente insieme alla Sapienza. HIVgen riguarda nuovi antiretrovirali e ha Padova come capofila con me responsabile scientifico. Il Prof. Liò è stato poi coinvolto nella domanda AIRC sul melanoma e in un progetto PRIN, entrambi tuttora in valutazione. Una ulteriore proposta è stata presentata con il Department of Computer Science and Technology di Cambridge sulle Sphere Neural Networks. Un ultimo progetto è stato sottoposto a Roche in collaborazione con il partner milanese del PRIN. Per nessuno di questi conosco ancora l'esito. Da questo lavoro sono nate due linee metodologiche nuove: una sulla robustezza dei nostri modelli quando vengono eseguiti su architetture di calcolo non convenzionali e una sull'impiego di famiglie di reti neurali alternative a quelle finora utilizzate. [Se servono gli importi: ABGEN vale circa 970 mila euro complessivi, dei quali circa 449 mila sulla unità di Padova. HIVgen vale circa 1,69 milioni di euro. Controlla le cifre sugli allegati prima di citarle in consiglio.]</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Insieme al Prof. Liò e al Dott. Righelli ho organizzato a Cambridge il workshop internazionale Generative Models for Therapeutic Discovery, tenutosi al Computer Laboratory il 29 e il 30 settembre. Il programma ha riunito oltre venti interventi tra ricerca accademica e industria, con relatori da Cambridge, dall'Alan Turing Institute, dal CNR, dalla Sapienza, da Padova e da aziende del settore. La seconda giornata è stata dedicata ai dottorandi e ai giovani ricercatori, con una presenza rilevante del nostro ateneo tra i relatori. Il sito del workshop resta consultabile. L'iniziativa ha dato visibilità alle linee di ricerca del gruppo e ha aperto contatti che stiamo già utilizzando per le collaborazioni in corso.</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Chiudo con quello che resta al Dipartimento. Le procedure messe a punto non sono legate a un singolo bersaglio terapeutico né a un singolo patogeno e restano quindi disponibili come competenza trasferibile a progetti futuri, sia in ambito infettivologico sia in ambito oncologico. Sono nate due linee metodologiche nuove: una sulla robustezza dei modelli quando vengono eseguiti su architetture di calcolo non convenzionali e una sull'impiego di famiglie di reti neurali alternative a quelle finora utilizzate. La collaborazione con Cambridge è ora stabile e comprende anche proposte di tesi per gli studenti del master in Systems Biology, che possono laurearsi con noi. Resto naturalmente disponibile a illustrare i singoli lavori più nel dettaglio in sede di consiglio oppure nell'ambito di un seminario dipartimentale. Grazie.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AF8F3"/>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70939"/>
            <a:ext cx="10566400" cy="496570"/>
          </a:xfrm>
          <a:prstGeom prst="rect">
            <a:avLst/>
          </a:prstGeom>
          <a:noFill/>
          <a:ln/>
        </p:spPr>
        <p:txBody>
          <a:bodyPr wrap="square" lIns="0" tIns="0" rIns="0" bIns="0" rtlCol="0" anchor="t"/>
          <a:lstStyle>
            <a:lvl1pPr marL="0" indent="0" algn="l">
              <a:lnSpc>
                <a:spcPct val="115000"/>
              </a:lnSpc>
              <a:buNone/>
              <a:defRPr lang="en-US" sz="3400" dirty="0">
                <a:solidFill>
                  <a:srgbClr val="16263C"/>
                </a:solidFill>
                <a:latin typeface="Source Serif 4" pitchFamily="34" charset="0"/>
                <a:ea typeface="Source Serif 4" pitchFamily="34" charset="-122"/>
                <a:cs typeface="Source Serif 4" pitchFamily="34" charset="-120"/>
              </a:defRPr>
            </a:lvl1pPr>
          </a:lstStyle>
          <a:p>
            <a:pPr marL="0" indent="0" algn="l">
              <a:lnSpc>
                <a:spcPct val="115000"/>
              </a:lnSpc>
              <a:buNone/>
            </a:pPr>
            <a:endParaRPr lang="en-US" sz="3400" dirty="0"/>
          </a:p>
        </p:txBody>
      </p:sp>
      <p:sp>
        <p:nvSpPr>
          <p:cNvPr id="3" name="Text Placeholder 2"/>
          <p:cNvSpPr>
            <a:spLocks noGrp="1"/>
          </p:cNvSpPr>
          <p:nvPr>
            <p:ph type="body" idx="101"/>
          </p:nvPr>
        </p:nvSpPr>
        <p:spPr>
          <a:xfrm>
            <a:off x="812800" y="1972309"/>
            <a:ext cx="10566400" cy="4072891"/>
          </a:xfrm>
          <a:prstGeom prst="rect">
            <a:avLst/>
          </a:prstGeom>
          <a:noFill/>
          <a:ln/>
        </p:spPr>
        <p:txBody>
          <a:bodyPr wrap="square" lIns="0" tIns="0" rIns="0" bIns="0" rtlCol="0" anchor="t"/>
          <a:lstStyle>
            <a:lvl1pPr marL="0" indent="0" algn="l">
              <a:lnSpc>
                <a:spcPct val="140000"/>
              </a:lnSpc>
              <a:buNone/>
              <a:defRPr lang="en-US" sz="1600" dirty="0">
                <a:solidFill>
                  <a:srgbClr val="16263C"/>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AF8F3"/>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70939"/>
            <a:ext cx="10566400" cy="496570"/>
          </a:xfrm>
          <a:prstGeom prst="rect">
            <a:avLst/>
          </a:prstGeom>
          <a:noFill/>
          <a:ln/>
        </p:spPr>
        <p:txBody>
          <a:bodyPr wrap="square" lIns="0" tIns="0" rIns="0" bIns="0" rtlCol="0" anchor="t"/>
          <a:lstStyle>
            <a:lvl1pPr marL="0" indent="0" algn="l">
              <a:lnSpc>
                <a:spcPct val="115000"/>
              </a:lnSpc>
              <a:buNone/>
              <a:defRPr lang="en-US" sz="3400" dirty="0">
                <a:solidFill>
                  <a:srgbClr val="16263C"/>
                </a:solidFill>
                <a:latin typeface="Source Serif 4" pitchFamily="34" charset="0"/>
                <a:ea typeface="Source Serif 4" pitchFamily="34" charset="-122"/>
                <a:cs typeface="Source Serif 4" pitchFamily="34" charset="-120"/>
              </a:defRPr>
            </a:lvl1pPr>
          </a:lstStyle>
          <a:p>
            <a:pPr marL="0" indent="0" algn="l">
              <a:lnSpc>
                <a:spcPct val="115000"/>
              </a:lnSpc>
              <a:buNone/>
            </a:pPr>
            <a:endParaRPr lang="en-US" sz="3400" dirty="0"/>
          </a:p>
        </p:txBody>
      </p:sp>
      <p:sp>
        <p:nvSpPr>
          <p:cNvPr id="3" name="Text Placeholder 2"/>
          <p:cNvSpPr>
            <a:spLocks noGrp="1"/>
          </p:cNvSpPr>
          <p:nvPr>
            <p:ph type="body" idx="101"/>
          </p:nvPr>
        </p:nvSpPr>
        <p:spPr>
          <a:xfrm>
            <a:off x="812800" y="1972309"/>
            <a:ext cx="10566400" cy="4072891"/>
          </a:xfrm>
          <a:prstGeom prst="rect">
            <a:avLst/>
          </a:prstGeom>
          <a:noFill/>
          <a:ln/>
        </p:spPr>
        <p:txBody>
          <a:bodyPr wrap="square" lIns="0" tIns="0" rIns="0" bIns="0" rtlCol="0" anchor="t"/>
          <a:lstStyle>
            <a:lvl1pPr marL="0" indent="0" algn="l">
              <a:lnSpc>
                <a:spcPct val="140000"/>
              </a:lnSpc>
              <a:buNone/>
              <a:defRPr lang="en-US" sz="1600" dirty="0">
                <a:solidFill>
                  <a:srgbClr val="16263C"/>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63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200" dirty="0">
                <a:solidFill>
                  <a:srgbClr val="6FBFAE"/>
                </a:solidFill>
                <a:latin typeface="IBM Plex Sans" pitchFamily="34" charset="0"/>
                <a:ea typeface="IBM Plex Sans" pitchFamily="34" charset="-122"/>
                <a:cs typeface="IBM Plex Sans" pitchFamily="34" charset="-120"/>
              </a:rPr>
              <a:t>CONSIGLIO DI DIPARTIMENTO - MAPS · 13 OTTOBRE 2026</a:t>
            </a:r>
            <a:endParaRPr lang="en-US" sz="1300" dirty="0"/>
          </a:p>
        </p:txBody>
      </p:sp>
      <p:sp>
        <p:nvSpPr>
          <p:cNvPr id="3" name="Text 1"/>
          <p:cNvSpPr>
            <a:spLocks noGrp="1"/>
          </p:cNvSpPr>
          <p:nvPr>
            <p:ph type="title"/>
          </p:nvPr>
        </p:nvSpPr>
        <p:spPr>
          <a:xfrm>
            <a:off x="812800" y="3387090"/>
            <a:ext cx="10883392" cy="584200"/>
          </a:xfrm>
          <a:prstGeom prst="rect">
            <a:avLst/>
          </a:prstGeom>
          <a:noFill/>
          <a:ln/>
        </p:spPr>
        <p:txBody>
          <a:bodyPr wrap="square" lIns="0" tIns="0" rIns="0" bIns="0" rtlCol="0" anchor="t">
            <a:normAutofit/>
          </a:bodyPr>
          <a:lstStyle/>
          <a:p>
            <a:pPr marL="0" indent="0" algn="l">
              <a:lnSpc>
                <a:spcPts val="5040"/>
              </a:lnSpc>
              <a:buNone/>
            </a:pPr>
            <a:r>
              <a:rPr lang="it-IT" sz="2400" dirty="0">
                <a:solidFill>
                  <a:schemeClr val="bg1"/>
                </a:solidFill>
              </a:rPr>
              <a:t>Periodo sabbatico all’Università di Cambridge: Relazione al Consiglio di Dipartimento</a:t>
            </a:r>
            <a:endParaRPr lang="en-US" sz="4400" dirty="0">
              <a:solidFill>
                <a:schemeClr val="bg1"/>
              </a:solidFill>
            </a:endParaRPr>
          </a:p>
        </p:txBody>
      </p:sp>
      <p:pic>
        <p:nvPicPr>
          <p:cNvPr id="4" name="Image 0" descr="line"/>
          <p:cNvPicPr>
            <a:picLocks noChangeAspect="1"/>
          </p:cNvPicPr>
          <p:nvPr/>
        </p:nvPicPr>
        <p:blipFill>
          <a:blip r:embed="rId3"/>
          <a:srcRect/>
          <a:stretch/>
        </p:blipFill>
        <p:spPr>
          <a:xfrm>
            <a:off x="812800" y="4895850"/>
            <a:ext cx="1016000" cy="31750"/>
          </a:xfrm>
          <a:prstGeom prst="rect">
            <a:avLst/>
          </a:prstGeom>
        </p:spPr>
      </p:pic>
      <p:sp>
        <p:nvSpPr>
          <p:cNvPr id="5" name="Text 2"/>
          <p:cNvSpPr/>
          <p:nvPr/>
        </p:nvSpPr>
        <p:spPr>
          <a:xfrm>
            <a:off x="812800" y="5156200"/>
            <a:ext cx="9156700" cy="711200"/>
          </a:xfrm>
          <a:prstGeom prst="rect">
            <a:avLst/>
          </a:prstGeom>
          <a:noFill/>
          <a:ln/>
        </p:spPr>
        <p:txBody>
          <a:bodyPr wrap="square" lIns="0" tIns="0" rIns="0" bIns="0" rtlCol="0" anchor="t">
            <a:normAutofit/>
          </a:bodyPr>
          <a:lstStyle/>
          <a:p>
            <a:pPr marL="0" indent="0" algn="l">
              <a:lnSpc>
                <a:spcPts val="2700"/>
              </a:lnSpc>
              <a:buNone/>
            </a:pPr>
            <a:endParaRPr lang="en-US" sz="2000" dirty="0"/>
          </a:p>
        </p:txBody>
      </p:sp>
      <p:sp>
        <p:nvSpPr>
          <p:cNvPr id="6" name="Text 3"/>
          <p:cNvSpPr/>
          <p:nvPr/>
        </p:nvSpPr>
        <p:spPr>
          <a:xfrm>
            <a:off x="812800" y="6220460"/>
            <a:ext cx="10883392" cy="256540"/>
          </a:xfrm>
          <a:prstGeom prst="rect">
            <a:avLst/>
          </a:prstGeom>
          <a:noFill/>
          <a:ln/>
        </p:spPr>
        <p:txBody>
          <a:bodyPr wrap="square" lIns="0" tIns="0" rIns="0" bIns="0" rtlCol="0" anchor="t">
            <a:normAutofit/>
          </a:bodyPr>
          <a:lstStyle/>
          <a:p>
            <a:pPr marL="0" indent="0" algn="l">
              <a:lnSpc>
                <a:spcPts val="1820"/>
              </a:lnSpc>
              <a:buNone/>
            </a:pPr>
            <a:r>
              <a:rPr lang="en-US" sz="1200" dirty="0">
                <a:solidFill>
                  <a:srgbClr val="BFD0DE"/>
                </a:solidFill>
                <a:latin typeface="IBM Plex Sans" pitchFamily="34" charset="0"/>
              </a:rPr>
              <a:t>Cristian Taccioli – Università di Padova – </a:t>
            </a:r>
            <a:r>
              <a:rPr lang="en-US" sz="1200" dirty="0" err="1">
                <a:solidFill>
                  <a:srgbClr val="BFD0DE"/>
                </a:solidFill>
                <a:latin typeface="IBM Plex Sans" pitchFamily="34" charset="0"/>
              </a:rPr>
              <a:t>Dipartmento</a:t>
            </a:r>
            <a:r>
              <a:rPr lang="en-US" sz="1200" dirty="0">
                <a:solidFill>
                  <a:srgbClr val="BFD0DE"/>
                </a:solidFill>
                <a:latin typeface="IBM Plex Sans" pitchFamily="34" charset="0"/>
              </a:rPr>
              <a:t> MAPS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8F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200" dirty="0">
                <a:solidFill>
                  <a:srgbClr val="2E6F63"/>
                </a:solidFill>
                <a:latin typeface="IBM Plex Sans" pitchFamily="34" charset="0"/>
                <a:ea typeface="IBM Plex Sans" pitchFamily="34" charset="-122"/>
                <a:cs typeface="IBM Plex Sans" pitchFamily="34" charset="-120"/>
              </a:rPr>
              <a:t>IL BILANCIO DEL PERIODO</a:t>
            </a:r>
            <a:endParaRPr lang="en-US" sz="1300" dirty="0"/>
          </a:p>
        </p:txBody>
      </p:sp>
      <p:sp>
        <p:nvSpPr>
          <p:cNvPr id="3" name="Text 1"/>
          <p:cNvSpPr>
            <a:spLocks noGrp="1"/>
          </p:cNvSpPr>
          <p:nvPr>
            <p:ph type="title"/>
          </p:nvPr>
        </p:nvSpPr>
        <p:spPr>
          <a:xfrm>
            <a:off x="812800" y="1196340"/>
            <a:ext cx="10883392" cy="521970"/>
          </a:xfrm>
          <a:prstGeom prst="rect">
            <a:avLst/>
          </a:prstGeom>
          <a:noFill/>
          <a:ln/>
        </p:spPr>
        <p:txBody>
          <a:bodyPr wrap="square" lIns="0" tIns="0" rIns="0" bIns="0" rtlCol="0" anchor="t">
            <a:normAutofit/>
          </a:bodyPr>
          <a:lstStyle/>
          <a:p>
            <a:pPr marL="0" indent="0" algn="l">
              <a:lnSpc>
                <a:spcPts val="3910"/>
              </a:lnSpc>
              <a:buNone/>
            </a:pPr>
            <a:r>
              <a:rPr lang="en-US" sz="3400" b="1" i="0" dirty="0">
                <a:solidFill>
                  <a:srgbClr val="16263C"/>
                </a:solidFill>
                <a:latin typeface="Source Serif 4" pitchFamily="18" charset="0"/>
                <a:ea typeface="Source Serif 4" pitchFamily="18" charset="-122"/>
                <a:cs typeface="Source Serif 4" pitchFamily="18" charset="-120"/>
              </a:rPr>
              <a:t>Che cosa è stato prodotto</a:t>
            </a:r>
            <a:endParaRPr lang="en-US" sz="3400" dirty="0"/>
          </a:p>
        </p:txBody>
      </p:sp>
      <p:sp>
        <p:nvSpPr>
          <p:cNvPr id="4" name="Text 2"/>
          <p:cNvSpPr/>
          <p:nvPr/>
        </p:nvSpPr>
        <p:spPr>
          <a:xfrm>
            <a:off x="812800" y="1845310"/>
            <a:ext cx="9810750" cy="577850"/>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4A5568"/>
                </a:solidFill>
                <a:latin typeface="IBM Plex Sans" pitchFamily="34" charset="0"/>
                <a:ea typeface="IBM Plex Sans" pitchFamily="34" charset="-122"/>
                <a:cs typeface="IBM Plex Sans" pitchFamily="34" charset="-120"/>
              </a:rPr>
              <a:t>Sede ospitante: Department of Computer Science and Technology. Referente: Prof. P. Liò. </a:t>
            </a:r>
          </a:p>
          <a:p>
            <a:pPr marL="0" indent="0" algn="l">
              <a:lnSpc>
                <a:spcPts val="2175"/>
              </a:lnSpc>
              <a:buNone/>
            </a:pPr>
            <a:r>
              <a:rPr lang="en-US" sz="1500" dirty="0" err="1">
                <a:solidFill>
                  <a:srgbClr val="4A5568"/>
                </a:solidFill>
                <a:latin typeface="IBM Plex Sans" pitchFamily="34" charset="0"/>
                <a:ea typeface="IBM Plex Sans" pitchFamily="34" charset="-122"/>
                <a:cs typeface="IBM Plex Sans" pitchFamily="34" charset="-120"/>
              </a:rPr>
              <a:t>Periodo</a:t>
            </a:r>
            <a:r>
              <a:rPr lang="en-US" sz="1500" dirty="0">
                <a:solidFill>
                  <a:srgbClr val="4A5568"/>
                </a:solidFill>
                <a:latin typeface="IBM Plex Sans" pitchFamily="34" charset="0"/>
                <a:ea typeface="IBM Plex Sans" pitchFamily="34" charset="-122"/>
                <a:cs typeface="IBM Plex Sans" pitchFamily="34" charset="-120"/>
              </a:rPr>
              <a:t>: da </a:t>
            </a:r>
            <a:r>
              <a:rPr lang="en-US" sz="1500" dirty="0" err="1">
                <a:solidFill>
                  <a:srgbClr val="4A5568"/>
                </a:solidFill>
                <a:latin typeface="IBM Plex Sans" pitchFamily="34" charset="0"/>
                <a:ea typeface="IBM Plex Sans" pitchFamily="34" charset="-122"/>
                <a:cs typeface="IBM Plex Sans" pitchFamily="34" charset="-120"/>
              </a:rPr>
              <a:t>Ottobre</a:t>
            </a:r>
            <a:r>
              <a:rPr lang="en-US" sz="1500" dirty="0">
                <a:solidFill>
                  <a:srgbClr val="4A5568"/>
                </a:solidFill>
                <a:latin typeface="IBM Plex Sans" pitchFamily="34" charset="0"/>
                <a:ea typeface="IBM Plex Sans" pitchFamily="34" charset="-122"/>
                <a:cs typeface="IBM Plex Sans" pitchFamily="34" charset="-120"/>
              </a:rPr>
              <a:t> 2025 a </a:t>
            </a:r>
            <a:r>
              <a:rPr lang="en-US" sz="1500" dirty="0" err="1">
                <a:solidFill>
                  <a:srgbClr val="4A5568"/>
                </a:solidFill>
                <a:latin typeface="IBM Plex Sans" pitchFamily="34" charset="0"/>
                <a:ea typeface="IBM Plex Sans" pitchFamily="34" charset="-122"/>
                <a:cs typeface="IBM Plex Sans" pitchFamily="34" charset="-120"/>
              </a:rPr>
              <a:t>Ottobre</a:t>
            </a:r>
            <a:r>
              <a:rPr lang="en-US" sz="1500" dirty="0">
                <a:solidFill>
                  <a:srgbClr val="4A5568"/>
                </a:solidFill>
                <a:latin typeface="IBM Plex Sans" pitchFamily="34" charset="0"/>
                <a:ea typeface="IBM Plex Sans" pitchFamily="34" charset="-122"/>
                <a:cs typeface="IBM Plex Sans" pitchFamily="34" charset="-120"/>
              </a:rPr>
              <a:t> 2026.</a:t>
            </a:r>
            <a:endParaRPr lang="en-US" sz="1500" dirty="0"/>
          </a:p>
        </p:txBody>
      </p:sp>
      <p:sp>
        <p:nvSpPr>
          <p:cNvPr id="5" name="Shape 3"/>
          <p:cNvSpPr/>
          <p:nvPr/>
        </p:nvSpPr>
        <p:spPr>
          <a:xfrm>
            <a:off x="815975" y="3985895"/>
            <a:ext cx="2482850" cy="1852930"/>
          </a:xfrm>
          <a:prstGeom prst="roundRect">
            <a:avLst>
              <a:gd name="adj" fmla="val 5312"/>
            </a:avLst>
          </a:prstGeom>
          <a:solidFill>
            <a:srgbClr val="FFFFFF"/>
          </a:solidFill>
          <a:ln w="6350">
            <a:solidFill>
              <a:srgbClr val="E3DED1"/>
            </a:solidFill>
            <a:prstDash val="solid"/>
          </a:ln>
        </p:spPr>
      </p:sp>
      <p:sp>
        <p:nvSpPr>
          <p:cNvPr id="6" name="Text 4"/>
          <p:cNvSpPr/>
          <p:nvPr/>
        </p:nvSpPr>
        <p:spPr>
          <a:xfrm>
            <a:off x="1071880" y="4241800"/>
            <a:ext cx="2030171" cy="584200"/>
          </a:xfrm>
          <a:prstGeom prst="rect">
            <a:avLst/>
          </a:prstGeom>
          <a:noFill/>
          <a:ln/>
        </p:spPr>
        <p:txBody>
          <a:bodyPr wrap="square" lIns="0" tIns="0" rIns="0" bIns="0" rtlCol="0" anchor="t">
            <a:normAutofit/>
          </a:bodyPr>
          <a:lstStyle/>
          <a:p>
            <a:pPr marL="0" indent="0" algn="l">
              <a:lnSpc>
                <a:spcPts val="4400"/>
              </a:lnSpc>
              <a:buNone/>
            </a:pPr>
            <a:r>
              <a:rPr lang="en-US" sz="4400" b="1" dirty="0">
                <a:solidFill>
                  <a:srgbClr val="2E6F63"/>
                </a:solidFill>
                <a:latin typeface="Source Serif 4" pitchFamily="18" charset="0"/>
                <a:ea typeface="Source Serif 4" pitchFamily="18" charset="-122"/>
                <a:cs typeface="Source Serif 4" pitchFamily="18" charset="-120"/>
              </a:rPr>
              <a:t>2</a:t>
            </a:r>
            <a:endParaRPr lang="en-US" sz="4400" dirty="0"/>
          </a:p>
        </p:txBody>
      </p:sp>
      <p:sp>
        <p:nvSpPr>
          <p:cNvPr id="7" name="Text 5"/>
          <p:cNvSpPr/>
          <p:nvPr/>
        </p:nvSpPr>
        <p:spPr>
          <a:xfrm>
            <a:off x="1071880" y="4889500"/>
            <a:ext cx="2030171" cy="48768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6263C"/>
                </a:solidFill>
                <a:latin typeface="IBM Plex Sans" pitchFamily="34" charset="0"/>
                <a:ea typeface="IBM Plex Sans" pitchFamily="34" charset="-122"/>
                <a:cs typeface="IBM Plex Sans" pitchFamily="34" charset="-120"/>
              </a:rPr>
              <a:t>Preprint depositati su bioRxiv</a:t>
            </a:r>
            <a:endParaRPr lang="en-US" sz="1400" dirty="0"/>
          </a:p>
        </p:txBody>
      </p:sp>
      <p:sp>
        <p:nvSpPr>
          <p:cNvPr id="8" name="Shape 6"/>
          <p:cNvSpPr/>
          <p:nvPr/>
        </p:nvSpPr>
        <p:spPr>
          <a:xfrm>
            <a:off x="3508375" y="3985895"/>
            <a:ext cx="2482850" cy="1852930"/>
          </a:xfrm>
          <a:prstGeom prst="roundRect">
            <a:avLst>
              <a:gd name="adj" fmla="val 5312"/>
            </a:avLst>
          </a:prstGeom>
          <a:solidFill>
            <a:srgbClr val="FFFFFF"/>
          </a:solidFill>
          <a:ln w="6350">
            <a:solidFill>
              <a:srgbClr val="E3DED1"/>
            </a:solidFill>
            <a:prstDash val="solid"/>
          </a:ln>
        </p:spPr>
      </p:sp>
      <p:sp>
        <p:nvSpPr>
          <p:cNvPr id="9" name="Text 7"/>
          <p:cNvSpPr/>
          <p:nvPr/>
        </p:nvSpPr>
        <p:spPr>
          <a:xfrm>
            <a:off x="3764280" y="4241800"/>
            <a:ext cx="2030171" cy="584200"/>
          </a:xfrm>
          <a:prstGeom prst="rect">
            <a:avLst/>
          </a:prstGeom>
          <a:noFill/>
          <a:ln/>
        </p:spPr>
        <p:txBody>
          <a:bodyPr wrap="square" lIns="0" tIns="0" rIns="0" bIns="0" rtlCol="0" anchor="t">
            <a:normAutofit/>
          </a:bodyPr>
          <a:lstStyle/>
          <a:p>
            <a:pPr marL="0" indent="0" algn="l">
              <a:lnSpc>
                <a:spcPts val="4400"/>
              </a:lnSpc>
              <a:buNone/>
            </a:pPr>
            <a:r>
              <a:rPr lang="en-US" sz="4400" b="1" dirty="0">
                <a:solidFill>
                  <a:srgbClr val="2E6F63"/>
                </a:solidFill>
                <a:latin typeface="Source Serif 4" pitchFamily="18" charset="0"/>
                <a:ea typeface="Source Serif 4" pitchFamily="18" charset="-122"/>
              </a:rPr>
              <a:t>3</a:t>
            </a:r>
            <a:endParaRPr lang="en-US" sz="4400" dirty="0"/>
          </a:p>
        </p:txBody>
      </p:sp>
      <p:sp>
        <p:nvSpPr>
          <p:cNvPr id="10" name="Text 8"/>
          <p:cNvSpPr/>
          <p:nvPr/>
        </p:nvSpPr>
        <p:spPr>
          <a:xfrm>
            <a:off x="3764280" y="4889500"/>
            <a:ext cx="2030171" cy="48768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6263C"/>
                </a:solidFill>
                <a:latin typeface="IBM Plex Sans" pitchFamily="34" charset="0"/>
                <a:ea typeface="IBM Plex Sans" pitchFamily="34" charset="-122"/>
                <a:cs typeface="IBM Plex Sans" pitchFamily="34" charset="-120"/>
              </a:rPr>
              <a:t>Manoscritto in preparazione</a:t>
            </a:r>
            <a:endParaRPr lang="en-US" sz="1400" dirty="0"/>
          </a:p>
        </p:txBody>
      </p:sp>
      <p:sp>
        <p:nvSpPr>
          <p:cNvPr id="11" name="Shape 9"/>
          <p:cNvSpPr/>
          <p:nvPr/>
        </p:nvSpPr>
        <p:spPr>
          <a:xfrm>
            <a:off x="6200775" y="3985895"/>
            <a:ext cx="2482850" cy="1852930"/>
          </a:xfrm>
          <a:prstGeom prst="roundRect">
            <a:avLst>
              <a:gd name="adj" fmla="val 5312"/>
            </a:avLst>
          </a:prstGeom>
          <a:solidFill>
            <a:srgbClr val="FFFFFF"/>
          </a:solidFill>
          <a:ln w="6350">
            <a:solidFill>
              <a:srgbClr val="E3DED1"/>
            </a:solidFill>
            <a:prstDash val="solid"/>
          </a:ln>
        </p:spPr>
      </p:sp>
      <p:sp>
        <p:nvSpPr>
          <p:cNvPr id="12" name="Text 10"/>
          <p:cNvSpPr/>
          <p:nvPr/>
        </p:nvSpPr>
        <p:spPr>
          <a:xfrm>
            <a:off x="6456680" y="4241800"/>
            <a:ext cx="2030171" cy="584200"/>
          </a:xfrm>
          <a:prstGeom prst="rect">
            <a:avLst/>
          </a:prstGeom>
          <a:noFill/>
          <a:ln/>
        </p:spPr>
        <p:txBody>
          <a:bodyPr wrap="square" lIns="0" tIns="0" rIns="0" bIns="0" rtlCol="0" anchor="t">
            <a:normAutofit/>
          </a:bodyPr>
          <a:lstStyle/>
          <a:p>
            <a:pPr marL="0" indent="0" algn="l">
              <a:lnSpc>
                <a:spcPts val="4400"/>
              </a:lnSpc>
              <a:buNone/>
            </a:pPr>
            <a:r>
              <a:rPr lang="en-US" sz="4400" b="1" dirty="0">
                <a:solidFill>
                  <a:srgbClr val="8F5A17"/>
                </a:solidFill>
                <a:latin typeface="Source Serif 4" pitchFamily="18" charset="0"/>
                <a:ea typeface="Source Serif 4" pitchFamily="18" charset="-122"/>
                <a:cs typeface="Source Serif 4" pitchFamily="18" charset="-120"/>
              </a:rPr>
              <a:t>6</a:t>
            </a:r>
            <a:endParaRPr lang="en-US" sz="4400" dirty="0"/>
          </a:p>
        </p:txBody>
      </p:sp>
      <p:sp>
        <p:nvSpPr>
          <p:cNvPr id="13" name="Text 11"/>
          <p:cNvSpPr/>
          <p:nvPr/>
        </p:nvSpPr>
        <p:spPr>
          <a:xfrm>
            <a:off x="6456680" y="4889500"/>
            <a:ext cx="2030171" cy="48768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6263C"/>
                </a:solidFill>
                <a:latin typeface="IBM Plex Sans" pitchFamily="34" charset="0"/>
                <a:ea typeface="IBM Plex Sans" pitchFamily="34" charset="-122"/>
                <a:cs typeface="IBM Plex Sans" pitchFamily="34" charset="-120"/>
              </a:rPr>
              <a:t>Domande di finanziamento</a:t>
            </a:r>
            <a:endParaRPr lang="en-US" sz="1400" dirty="0"/>
          </a:p>
        </p:txBody>
      </p:sp>
      <p:sp>
        <p:nvSpPr>
          <p:cNvPr id="14" name="Shape 12"/>
          <p:cNvSpPr/>
          <p:nvPr/>
        </p:nvSpPr>
        <p:spPr>
          <a:xfrm>
            <a:off x="8893175" y="3985895"/>
            <a:ext cx="2482850" cy="1852930"/>
          </a:xfrm>
          <a:prstGeom prst="roundRect">
            <a:avLst>
              <a:gd name="adj" fmla="val 5312"/>
            </a:avLst>
          </a:prstGeom>
          <a:solidFill>
            <a:srgbClr val="FFFFFF"/>
          </a:solidFill>
          <a:ln w="6350">
            <a:solidFill>
              <a:srgbClr val="E3DED1"/>
            </a:solidFill>
            <a:prstDash val="solid"/>
          </a:ln>
        </p:spPr>
      </p:sp>
      <p:sp>
        <p:nvSpPr>
          <p:cNvPr id="15" name="Text 13"/>
          <p:cNvSpPr/>
          <p:nvPr/>
        </p:nvSpPr>
        <p:spPr>
          <a:xfrm>
            <a:off x="9149080" y="4241800"/>
            <a:ext cx="2030171" cy="584200"/>
          </a:xfrm>
          <a:prstGeom prst="rect">
            <a:avLst/>
          </a:prstGeom>
          <a:noFill/>
          <a:ln/>
        </p:spPr>
        <p:txBody>
          <a:bodyPr wrap="square" lIns="0" tIns="0" rIns="0" bIns="0" rtlCol="0" anchor="t">
            <a:normAutofit/>
          </a:bodyPr>
          <a:lstStyle/>
          <a:p>
            <a:pPr marL="0" indent="0" algn="l">
              <a:lnSpc>
                <a:spcPts val="4400"/>
              </a:lnSpc>
              <a:buNone/>
            </a:pPr>
            <a:r>
              <a:rPr lang="en-US" sz="4400" b="1" dirty="0">
                <a:solidFill>
                  <a:srgbClr val="8F5A17"/>
                </a:solidFill>
                <a:latin typeface="Source Serif 4" pitchFamily="18" charset="0"/>
                <a:ea typeface="Source Serif 4" pitchFamily="18" charset="-122"/>
                <a:cs typeface="Source Serif 4" pitchFamily="18" charset="-120"/>
              </a:rPr>
              <a:t>1</a:t>
            </a:r>
            <a:endParaRPr lang="en-US" sz="4400" dirty="0"/>
          </a:p>
        </p:txBody>
      </p:sp>
      <p:sp>
        <p:nvSpPr>
          <p:cNvPr id="16" name="Text 14"/>
          <p:cNvSpPr/>
          <p:nvPr/>
        </p:nvSpPr>
        <p:spPr>
          <a:xfrm>
            <a:off x="9149080" y="4889500"/>
            <a:ext cx="2030171" cy="71882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6263C"/>
                </a:solidFill>
                <a:latin typeface="IBM Plex Sans" pitchFamily="34" charset="0"/>
                <a:ea typeface="IBM Plex Sans" pitchFamily="34" charset="-122"/>
                <a:cs typeface="IBM Plex Sans" pitchFamily="34" charset="-120"/>
              </a:rPr>
              <a:t>Workshop internazionale organizzato</a:t>
            </a:r>
            <a:endParaRPr lang="en-US" sz="1400" dirty="0"/>
          </a:p>
        </p:txBody>
      </p:sp>
      <p:sp>
        <p:nvSpPr>
          <p:cNvPr id="17" name="Text 15"/>
          <p:cNvSpPr/>
          <p:nvPr/>
        </p:nvSpPr>
        <p:spPr>
          <a:xfrm>
            <a:off x="812800" y="6220461"/>
            <a:ext cx="10883392" cy="256540"/>
          </a:xfrm>
          <a:prstGeom prst="rect">
            <a:avLst/>
          </a:prstGeom>
          <a:noFill/>
          <a:ln/>
        </p:spPr>
        <p:txBody>
          <a:bodyPr wrap="square" lIns="0" tIns="0" rIns="0" bIns="0" rtlCol="0" anchor="t">
            <a:normAutofit/>
          </a:bodyPr>
          <a:lstStyle/>
          <a:p>
            <a:pPr marL="0" indent="0" algn="l">
              <a:lnSpc>
                <a:spcPts val="1820"/>
              </a:lnSpc>
              <a:buNone/>
            </a:pP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8F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200" dirty="0">
                <a:solidFill>
                  <a:srgbClr val="2E6F63"/>
                </a:solidFill>
                <a:latin typeface="IBM Plex Sans" pitchFamily="34" charset="0"/>
                <a:ea typeface="IBM Plex Sans" pitchFamily="34" charset="-122"/>
                <a:cs typeface="IBM Plex Sans" pitchFamily="34" charset="-120"/>
              </a:rPr>
              <a:t>FILONE 1 · DISEGNO DE NOVO DI FARMACI</a:t>
            </a:r>
            <a:endParaRPr lang="en-US" sz="1300" dirty="0"/>
          </a:p>
        </p:txBody>
      </p:sp>
      <p:sp>
        <p:nvSpPr>
          <p:cNvPr id="3" name="Text 1"/>
          <p:cNvSpPr>
            <a:spLocks noGrp="1"/>
          </p:cNvSpPr>
          <p:nvPr>
            <p:ph type="title"/>
          </p:nvPr>
        </p:nvSpPr>
        <p:spPr>
          <a:xfrm>
            <a:off x="812800" y="1170941"/>
            <a:ext cx="10883392" cy="521970"/>
          </a:xfrm>
          <a:prstGeom prst="rect">
            <a:avLst/>
          </a:prstGeom>
          <a:noFill/>
          <a:ln/>
        </p:spPr>
        <p:txBody>
          <a:bodyPr wrap="square" lIns="0" tIns="0" rIns="0" bIns="0" rtlCol="0" anchor="t">
            <a:normAutofit/>
          </a:bodyPr>
          <a:lstStyle/>
          <a:p>
            <a:pPr marL="0" indent="0" algn="l">
              <a:lnSpc>
                <a:spcPts val="3910"/>
              </a:lnSpc>
              <a:buNone/>
            </a:pPr>
            <a:r>
              <a:rPr lang="en-US" sz="3400" b="1" i="0" dirty="0">
                <a:solidFill>
                  <a:srgbClr val="16263C"/>
                </a:solidFill>
                <a:latin typeface="Source Serif 4" pitchFamily="18" charset="0"/>
                <a:ea typeface="Source Serif 4" pitchFamily="18" charset="-122"/>
                <a:cs typeface="Source Serif 4" pitchFamily="18" charset="-120"/>
              </a:rPr>
              <a:t>LLMsFold</a:t>
            </a:r>
            <a:endParaRPr lang="en-US" sz="3400" dirty="0"/>
          </a:p>
        </p:txBody>
      </p:sp>
      <p:sp>
        <p:nvSpPr>
          <p:cNvPr id="4" name="Text 2"/>
          <p:cNvSpPr/>
          <p:nvPr/>
        </p:nvSpPr>
        <p:spPr>
          <a:xfrm>
            <a:off x="812800" y="1794511"/>
            <a:ext cx="10203180" cy="577850"/>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4A5568"/>
                </a:solidFill>
                <a:latin typeface="IBM Plex Sans" pitchFamily="34" charset="0"/>
                <a:ea typeface="IBM Plex Sans" pitchFamily="34" charset="-122"/>
                <a:cs typeface="IBM Plex Sans" pitchFamily="34" charset="-120"/>
              </a:rPr>
              <a:t>Una procedura che integra un modello linguistico di grandi dimensioni e un modello biofisico di co-folding, applicata ai bersagli ACVR1 e CD19.</a:t>
            </a:r>
            <a:endParaRPr lang="en-US" sz="1500" dirty="0"/>
          </a:p>
        </p:txBody>
      </p:sp>
      <p:sp>
        <p:nvSpPr>
          <p:cNvPr id="5" name="Shape 3"/>
          <p:cNvSpPr/>
          <p:nvPr/>
        </p:nvSpPr>
        <p:spPr>
          <a:xfrm>
            <a:off x="812800" y="2715578"/>
            <a:ext cx="3403600" cy="1813560"/>
          </a:xfrm>
          <a:prstGeom prst="rect">
            <a:avLst/>
          </a:prstGeom>
          <a:solidFill>
            <a:srgbClr val="FFFFFF"/>
          </a:solidFill>
          <a:ln/>
        </p:spPr>
      </p:sp>
      <p:sp>
        <p:nvSpPr>
          <p:cNvPr id="6" name="Shape 4"/>
          <p:cNvSpPr/>
          <p:nvPr/>
        </p:nvSpPr>
        <p:spPr>
          <a:xfrm>
            <a:off x="812800" y="2731453"/>
            <a:ext cx="3403600" cy="0"/>
          </a:xfrm>
          <a:prstGeom prst="line">
            <a:avLst/>
          </a:prstGeom>
          <a:noFill/>
          <a:ln w="31750">
            <a:solidFill>
              <a:srgbClr val="2E6F63"/>
            </a:solidFill>
            <a:prstDash val="solid"/>
          </a:ln>
        </p:spPr>
      </p:sp>
      <p:sp>
        <p:nvSpPr>
          <p:cNvPr id="7" name="Text 5"/>
          <p:cNvSpPr/>
          <p:nvPr/>
        </p:nvSpPr>
        <p:spPr>
          <a:xfrm>
            <a:off x="1041400" y="2974657"/>
            <a:ext cx="3034792" cy="279400"/>
          </a:xfrm>
          <a:prstGeom prst="rect">
            <a:avLst/>
          </a:prstGeom>
          <a:noFill/>
          <a:ln/>
        </p:spPr>
        <p:txBody>
          <a:bodyPr wrap="square" lIns="0" tIns="0" rIns="0" bIns="0" rtlCol="0" anchor="t">
            <a:normAutofit/>
          </a:bodyPr>
          <a:lstStyle/>
          <a:p>
            <a:pPr marL="0" indent="0" algn="l">
              <a:lnSpc>
                <a:spcPts val="2000"/>
              </a:lnSpc>
              <a:buNone/>
            </a:pPr>
            <a:r>
              <a:rPr lang="en-US" sz="1600" b="1" dirty="0">
                <a:solidFill>
                  <a:srgbClr val="16263C"/>
                </a:solidFill>
                <a:latin typeface="IBM Plex Sans" pitchFamily="34" charset="0"/>
                <a:ea typeface="IBM Plex Sans" pitchFamily="34" charset="-122"/>
                <a:cs typeface="IBM Plex Sans" pitchFamily="34" charset="-120"/>
              </a:rPr>
              <a:t>Generazione</a:t>
            </a:r>
            <a:endParaRPr lang="en-US" sz="1600" dirty="0"/>
          </a:p>
        </p:txBody>
      </p:sp>
      <p:sp>
        <p:nvSpPr>
          <p:cNvPr id="8" name="Text 6"/>
          <p:cNvSpPr/>
          <p:nvPr/>
        </p:nvSpPr>
        <p:spPr>
          <a:xfrm>
            <a:off x="1041400" y="3304857"/>
            <a:ext cx="3034792" cy="10210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LLaMA-3-70B propone molecole come stringhe SMILES dalla descrizione della tasca di legame, senza addestramento dedicato</a:t>
            </a:r>
            <a:endParaRPr lang="en-US" sz="1400" dirty="0"/>
          </a:p>
        </p:txBody>
      </p:sp>
      <p:sp>
        <p:nvSpPr>
          <p:cNvPr id="9" name="Shape 7"/>
          <p:cNvSpPr/>
          <p:nvPr/>
        </p:nvSpPr>
        <p:spPr>
          <a:xfrm>
            <a:off x="4394200" y="2715578"/>
            <a:ext cx="3403600" cy="1813560"/>
          </a:xfrm>
          <a:prstGeom prst="rect">
            <a:avLst/>
          </a:prstGeom>
          <a:solidFill>
            <a:srgbClr val="FFFFFF"/>
          </a:solidFill>
          <a:ln/>
        </p:spPr>
      </p:sp>
      <p:sp>
        <p:nvSpPr>
          <p:cNvPr id="10" name="Shape 8"/>
          <p:cNvSpPr/>
          <p:nvPr/>
        </p:nvSpPr>
        <p:spPr>
          <a:xfrm>
            <a:off x="4394200" y="2731453"/>
            <a:ext cx="3403600" cy="0"/>
          </a:xfrm>
          <a:prstGeom prst="line">
            <a:avLst/>
          </a:prstGeom>
          <a:noFill/>
          <a:ln w="31750">
            <a:solidFill>
              <a:srgbClr val="2E6F63"/>
            </a:solidFill>
            <a:prstDash val="solid"/>
          </a:ln>
        </p:spPr>
      </p:sp>
      <p:sp>
        <p:nvSpPr>
          <p:cNvPr id="11" name="Text 9"/>
          <p:cNvSpPr/>
          <p:nvPr/>
        </p:nvSpPr>
        <p:spPr>
          <a:xfrm>
            <a:off x="4622800" y="2974657"/>
            <a:ext cx="3034792" cy="279400"/>
          </a:xfrm>
          <a:prstGeom prst="rect">
            <a:avLst/>
          </a:prstGeom>
          <a:noFill/>
          <a:ln/>
        </p:spPr>
        <p:txBody>
          <a:bodyPr wrap="square" lIns="0" tIns="0" rIns="0" bIns="0" rtlCol="0" anchor="t">
            <a:normAutofit/>
          </a:bodyPr>
          <a:lstStyle/>
          <a:p>
            <a:pPr marL="0" indent="0" algn="l">
              <a:lnSpc>
                <a:spcPts val="2000"/>
              </a:lnSpc>
              <a:buNone/>
            </a:pPr>
            <a:r>
              <a:rPr lang="en-US" sz="1600" b="1" dirty="0">
                <a:solidFill>
                  <a:srgbClr val="16263C"/>
                </a:solidFill>
                <a:latin typeface="IBM Plex Sans" pitchFamily="34" charset="0"/>
                <a:ea typeface="IBM Plex Sans" pitchFamily="34" charset="-122"/>
                <a:cs typeface="IBM Plex Sans" pitchFamily="34" charset="-120"/>
              </a:rPr>
              <a:t>Validazione</a:t>
            </a:r>
            <a:endParaRPr lang="en-US" sz="1600" dirty="0"/>
          </a:p>
        </p:txBody>
      </p:sp>
      <p:sp>
        <p:nvSpPr>
          <p:cNvPr id="12" name="Text 10"/>
          <p:cNvSpPr/>
          <p:nvPr/>
        </p:nvSpPr>
        <p:spPr>
          <a:xfrm>
            <a:off x="4622800" y="3304857"/>
            <a:ext cx="3034792"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Boltz-2 predice struttura del complesso, affinità e confidenza della posa di legame</a:t>
            </a:r>
            <a:endParaRPr lang="en-US" sz="1400" dirty="0"/>
          </a:p>
        </p:txBody>
      </p:sp>
      <p:sp>
        <p:nvSpPr>
          <p:cNvPr id="13" name="Shape 11"/>
          <p:cNvSpPr/>
          <p:nvPr/>
        </p:nvSpPr>
        <p:spPr>
          <a:xfrm>
            <a:off x="7975600" y="2715578"/>
            <a:ext cx="3403600" cy="1813560"/>
          </a:xfrm>
          <a:prstGeom prst="rect">
            <a:avLst/>
          </a:prstGeom>
          <a:solidFill>
            <a:srgbClr val="FFFFFF"/>
          </a:solidFill>
          <a:ln/>
        </p:spPr>
      </p:sp>
      <p:sp>
        <p:nvSpPr>
          <p:cNvPr id="14" name="Shape 12"/>
          <p:cNvSpPr/>
          <p:nvPr/>
        </p:nvSpPr>
        <p:spPr>
          <a:xfrm>
            <a:off x="7975600" y="2731453"/>
            <a:ext cx="3403600" cy="0"/>
          </a:xfrm>
          <a:prstGeom prst="line">
            <a:avLst/>
          </a:prstGeom>
          <a:noFill/>
          <a:ln w="31750">
            <a:solidFill>
              <a:srgbClr val="2E6F63"/>
            </a:solidFill>
            <a:prstDash val="solid"/>
          </a:ln>
        </p:spPr>
      </p:sp>
      <p:sp>
        <p:nvSpPr>
          <p:cNvPr id="15" name="Text 13"/>
          <p:cNvSpPr/>
          <p:nvPr/>
        </p:nvSpPr>
        <p:spPr>
          <a:xfrm>
            <a:off x="8204200" y="2974657"/>
            <a:ext cx="3034792" cy="279400"/>
          </a:xfrm>
          <a:prstGeom prst="rect">
            <a:avLst/>
          </a:prstGeom>
          <a:noFill/>
          <a:ln/>
        </p:spPr>
        <p:txBody>
          <a:bodyPr wrap="square" lIns="0" tIns="0" rIns="0" bIns="0" rtlCol="0" anchor="t">
            <a:normAutofit/>
          </a:bodyPr>
          <a:lstStyle/>
          <a:p>
            <a:pPr marL="0" indent="0" algn="l">
              <a:lnSpc>
                <a:spcPts val="2000"/>
              </a:lnSpc>
              <a:buNone/>
            </a:pPr>
            <a:r>
              <a:rPr lang="en-US" sz="1600" b="1" dirty="0">
                <a:solidFill>
                  <a:srgbClr val="16263C"/>
                </a:solidFill>
                <a:latin typeface="IBM Plex Sans" pitchFamily="34" charset="0"/>
                <a:ea typeface="IBM Plex Sans" pitchFamily="34" charset="-122"/>
                <a:cs typeface="IBM Plex Sans" pitchFamily="34" charset="-120"/>
              </a:rPr>
              <a:t>Ottimizzazione</a:t>
            </a:r>
            <a:endParaRPr lang="en-US" sz="1600" dirty="0"/>
          </a:p>
        </p:txBody>
      </p:sp>
      <p:sp>
        <p:nvSpPr>
          <p:cNvPr id="16" name="Text 14"/>
          <p:cNvSpPr/>
          <p:nvPr/>
        </p:nvSpPr>
        <p:spPr>
          <a:xfrm>
            <a:off x="8204200" y="3304857"/>
            <a:ext cx="3034792"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Un ciclo di reinforcement learning reimmette i candidati migliori e ne affina la struttura</a:t>
            </a:r>
            <a:endParaRPr lang="en-US" sz="1400" dirty="0"/>
          </a:p>
        </p:txBody>
      </p:sp>
      <p:sp>
        <p:nvSpPr>
          <p:cNvPr id="17" name="Shape 15"/>
          <p:cNvSpPr/>
          <p:nvPr/>
        </p:nvSpPr>
        <p:spPr>
          <a:xfrm>
            <a:off x="812800" y="4897755"/>
            <a:ext cx="5194300" cy="944245"/>
          </a:xfrm>
          <a:prstGeom prst="roundRect">
            <a:avLst>
              <a:gd name="adj" fmla="val 8070"/>
            </a:avLst>
          </a:prstGeom>
          <a:solidFill>
            <a:srgbClr val="16263C"/>
          </a:solidFill>
          <a:ln/>
        </p:spPr>
      </p:sp>
      <p:sp>
        <p:nvSpPr>
          <p:cNvPr id="18" name="Text 16"/>
          <p:cNvSpPr/>
          <p:nvPr/>
        </p:nvSpPr>
        <p:spPr>
          <a:xfrm>
            <a:off x="1041400" y="5100955"/>
            <a:ext cx="4879213" cy="263525"/>
          </a:xfrm>
          <a:prstGeom prst="rect">
            <a:avLst/>
          </a:prstGeom>
          <a:noFill/>
          <a:ln/>
        </p:spPr>
        <p:txBody>
          <a:bodyPr wrap="square" lIns="0" tIns="0" rIns="0" bIns="0" rtlCol="0" anchor="t">
            <a:normAutofit/>
          </a:bodyPr>
          <a:lstStyle/>
          <a:p>
            <a:pPr marL="0" indent="0" algn="l">
              <a:lnSpc>
                <a:spcPts val="1875"/>
              </a:lnSpc>
              <a:buNone/>
            </a:pPr>
            <a:r>
              <a:rPr lang="en-US" sz="1500" b="1" dirty="0">
                <a:solidFill>
                  <a:srgbClr val="FAF8F3"/>
                </a:solidFill>
                <a:latin typeface="IBM Plex Sans" pitchFamily="34" charset="0"/>
                <a:ea typeface="IBM Plex Sans" pitchFamily="34" charset="-122"/>
                <a:cs typeface="IBM Plex Sans" pitchFamily="34" charset="-120"/>
              </a:rPr>
              <a:t>Meta LLaMA Impact Grant 2025</a:t>
            </a:r>
            <a:endParaRPr lang="en-US" sz="1500" dirty="0"/>
          </a:p>
        </p:txBody>
      </p:sp>
      <p:sp>
        <p:nvSpPr>
          <p:cNvPr id="19" name="Text 17"/>
          <p:cNvSpPr/>
          <p:nvPr/>
        </p:nvSpPr>
        <p:spPr>
          <a:xfrm>
            <a:off x="1041400" y="5389880"/>
            <a:ext cx="4879213"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FD0DE"/>
                </a:solidFill>
                <a:latin typeface="IBM Plex Sans" pitchFamily="34" charset="0"/>
                <a:ea typeface="IBM Plex Sans" pitchFamily="34" charset="-122"/>
                <a:cs typeface="IBM Plex Sans" pitchFamily="34" charset="-120"/>
              </a:rPr>
              <a:t>Unico progetto europeo tra i dieci selezionati nel mondo</a:t>
            </a:r>
            <a:endParaRPr lang="en-US" sz="1400" dirty="0"/>
          </a:p>
        </p:txBody>
      </p:sp>
      <p:sp>
        <p:nvSpPr>
          <p:cNvPr id="20" name="Shape 18"/>
          <p:cNvSpPr/>
          <p:nvPr/>
        </p:nvSpPr>
        <p:spPr>
          <a:xfrm>
            <a:off x="6184900" y="4897755"/>
            <a:ext cx="5194300" cy="944245"/>
          </a:xfrm>
          <a:prstGeom prst="roundRect">
            <a:avLst>
              <a:gd name="adj" fmla="val 8070"/>
            </a:avLst>
          </a:prstGeom>
          <a:solidFill>
            <a:srgbClr val="EFEBE1"/>
          </a:solidFill>
          <a:ln/>
        </p:spPr>
      </p:sp>
      <p:sp>
        <p:nvSpPr>
          <p:cNvPr id="21" name="Text 19"/>
          <p:cNvSpPr/>
          <p:nvPr/>
        </p:nvSpPr>
        <p:spPr>
          <a:xfrm>
            <a:off x="6413500" y="5100955"/>
            <a:ext cx="4879213" cy="263525"/>
          </a:xfrm>
          <a:prstGeom prst="rect">
            <a:avLst/>
          </a:prstGeom>
          <a:noFill/>
          <a:ln/>
        </p:spPr>
        <p:txBody>
          <a:bodyPr wrap="square" lIns="0" tIns="0" rIns="0" bIns="0" rtlCol="0" anchor="t">
            <a:normAutofit/>
          </a:bodyPr>
          <a:lstStyle/>
          <a:p>
            <a:pPr marL="0" indent="0" algn="l">
              <a:lnSpc>
                <a:spcPts val="1875"/>
              </a:lnSpc>
              <a:buNone/>
            </a:pPr>
            <a:r>
              <a:rPr lang="en-US" sz="1500" b="1" dirty="0" err="1">
                <a:solidFill>
                  <a:srgbClr val="16263C"/>
                </a:solidFill>
                <a:latin typeface="IBM Plex Sans" pitchFamily="34" charset="0"/>
                <a:ea typeface="IBM Plex Sans" pitchFamily="34" charset="-122"/>
                <a:cs typeface="IBM Plex Sans" pitchFamily="34" charset="-120"/>
              </a:rPr>
              <a:t>Risultati</a:t>
            </a:r>
            <a:endParaRPr lang="en-US" sz="1500" dirty="0"/>
          </a:p>
        </p:txBody>
      </p:sp>
      <p:sp>
        <p:nvSpPr>
          <p:cNvPr id="22" name="Text 20"/>
          <p:cNvSpPr/>
          <p:nvPr/>
        </p:nvSpPr>
        <p:spPr>
          <a:xfrm>
            <a:off x="6413500" y="5389880"/>
            <a:ext cx="4965700"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50 molecole generate e </a:t>
            </a:r>
            <a:r>
              <a:rPr lang="en-US" sz="1400" dirty="0" err="1">
                <a:solidFill>
                  <a:srgbClr val="4A5568"/>
                </a:solidFill>
                <a:latin typeface="IBM Plex Sans" pitchFamily="34" charset="0"/>
                <a:ea typeface="IBM Plex Sans" pitchFamily="34" charset="-122"/>
                <a:cs typeface="IBM Plex Sans" pitchFamily="34" charset="-120"/>
              </a:rPr>
              <a:t>valutate</a:t>
            </a:r>
            <a:r>
              <a:rPr lang="en-US" sz="1400" dirty="0">
                <a:solidFill>
                  <a:srgbClr val="4A5568"/>
                </a:solidFill>
                <a:latin typeface="IBM Plex Sans" pitchFamily="34" charset="0"/>
                <a:ea typeface="IBM Plex Sans" pitchFamily="34" charset="-122"/>
                <a:cs typeface="IBM Plex Sans" pitchFamily="34" charset="-120"/>
              </a:rPr>
              <a:t> di cui una </a:t>
            </a:r>
            <a:r>
              <a:rPr lang="en-US" sz="1400" dirty="0" err="1">
                <a:solidFill>
                  <a:srgbClr val="4A5568"/>
                </a:solidFill>
                <a:latin typeface="IBM Plex Sans" pitchFamily="34" charset="0"/>
                <a:ea typeface="IBM Plex Sans" pitchFamily="34" charset="-122"/>
                <a:cs typeface="IBM Plex Sans" pitchFamily="34" charset="-120"/>
              </a:rPr>
              <a:t>validata</a:t>
            </a:r>
            <a:endParaRPr lang="en-US" sz="1400" dirty="0"/>
          </a:p>
        </p:txBody>
      </p:sp>
      <p:sp>
        <p:nvSpPr>
          <p:cNvPr id="23" name="Text 21"/>
          <p:cNvSpPr/>
          <p:nvPr/>
        </p:nvSpPr>
        <p:spPr>
          <a:xfrm>
            <a:off x="812800" y="6220461"/>
            <a:ext cx="10883392"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6B7280"/>
                </a:solidFill>
                <a:latin typeface="IBM Plex Sans" pitchFamily="34" charset="0"/>
                <a:ea typeface="IBM Plex Sans" pitchFamily="34" charset="-122"/>
                <a:cs typeface="IBM Plex Sans" pitchFamily="34" charset="-120"/>
              </a:rPr>
              <a:t>Widuranga, Bove, Righelli, Romano, Visone, Iorio, Liò, Taccioli. Preprint bioRxiv, 2026</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8F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9157"/>
          </a:xfrm>
          <a:prstGeom prst="rect">
            <a:avLst/>
          </a:prstGeom>
          <a:noFill/>
          <a:ln/>
        </p:spPr>
        <p:txBody>
          <a:bodyPr wrap="square" lIns="0" tIns="0" rIns="0" bIns="0" rtlCol="0" anchor="t">
            <a:normAutofit/>
          </a:bodyPr>
          <a:lstStyle/>
          <a:p>
            <a:pPr marL="0" indent="0" algn="l">
              <a:lnSpc>
                <a:spcPts val="1723"/>
              </a:lnSpc>
              <a:buNone/>
            </a:pPr>
            <a:r>
              <a:rPr lang="en-US" sz="1231" b="1" kern="0" spc="200" dirty="0">
                <a:solidFill>
                  <a:srgbClr val="2E6F63"/>
                </a:solidFill>
                <a:latin typeface="IBM Plex Sans" pitchFamily="34" charset="0"/>
                <a:ea typeface="IBM Plex Sans" pitchFamily="34" charset="-122"/>
                <a:cs typeface="IBM Plex Sans" pitchFamily="34" charset="-120"/>
              </a:rPr>
              <a:t>FILONE 2 · RIPOSIZIONAMENTO DI FARMACI</a:t>
            </a:r>
            <a:endParaRPr lang="en-US" sz="1231" dirty="0"/>
          </a:p>
        </p:txBody>
      </p:sp>
      <p:sp>
        <p:nvSpPr>
          <p:cNvPr id="3" name="Text 1"/>
          <p:cNvSpPr>
            <a:spLocks noGrp="1"/>
          </p:cNvSpPr>
          <p:nvPr>
            <p:ph type="title"/>
          </p:nvPr>
        </p:nvSpPr>
        <p:spPr>
          <a:xfrm>
            <a:off x="812800" y="1153557"/>
            <a:ext cx="10883392" cy="943769"/>
          </a:xfrm>
          <a:prstGeom prst="rect">
            <a:avLst/>
          </a:prstGeom>
          <a:noFill/>
          <a:ln/>
        </p:spPr>
        <p:txBody>
          <a:bodyPr wrap="square" lIns="0" tIns="0" rIns="0" bIns="0" rtlCol="0" anchor="t">
            <a:normAutofit/>
          </a:bodyPr>
          <a:lstStyle/>
          <a:p>
            <a:pPr marL="0" indent="0" algn="l">
              <a:lnSpc>
                <a:spcPts val="3629"/>
              </a:lnSpc>
              <a:buNone/>
            </a:pPr>
            <a:r>
              <a:rPr lang="en-US" sz="3156" b="1" i="0" dirty="0">
                <a:solidFill>
                  <a:srgbClr val="16263C"/>
                </a:solidFill>
                <a:latin typeface="Source Serif 4" pitchFamily="18" charset="0"/>
                <a:ea typeface="Source Serif 4" pitchFamily="18" charset="-122"/>
                <a:cs typeface="Source Serif 4" pitchFamily="18" charset="-120"/>
              </a:rPr>
              <a:t>Nuove classi di antibiotici contro </a:t>
            </a:r>
            <a:r>
              <a:rPr lang="en-US" sz="3156" b="1" i="1" dirty="0">
                <a:solidFill>
                  <a:srgbClr val="16263C"/>
                </a:solidFill>
                <a:latin typeface="Source Serif 4" pitchFamily="18" charset="0"/>
                <a:ea typeface="Source Serif 4" pitchFamily="18" charset="-122"/>
                <a:cs typeface="Source Serif 4" pitchFamily="18" charset="-120"/>
              </a:rPr>
              <a:t>Acinetobacter baumannii</a:t>
            </a:r>
            <a:endParaRPr lang="en-US" sz="3156" dirty="0"/>
          </a:p>
        </p:txBody>
      </p:sp>
      <p:sp>
        <p:nvSpPr>
          <p:cNvPr id="4" name="Text 2"/>
          <p:cNvSpPr/>
          <p:nvPr/>
        </p:nvSpPr>
        <p:spPr>
          <a:xfrm>
            <a:off x="812800" y="2198926"/>
            <a:ext cx="10203180" cy="280829"/>
          </a:xfrm>
          <a:prstGeom prst="rect">
            <a:avLst/>
          </a:prstGeom>
          <a:noFill/>
          <a:ln/>
        </p:spPr>
        <p:txBody>
          <a:bodyPr wrap="square" lIns="0" tIns="0" rIns="0" bIns="0" rtlCol="0" anchor="t">
            <a:normAutofit/>
          </a:bodyPr>
          <a:lstStyle/>
          <a:p>
            <a:pPr marL="0" indent="0" algn="l">
              <a:lnSpc>
                <a:spcPts val="2019"/>
              </a:lnSpc>
              <a:buNone/>
            </a:pPr>
            <a:r>
              <a:rPr lang="en-US" sz="1392" dirty="0">
                <a:solidFill>
                  <a:srgbClr val="4A5568"/>
                </a:solidFill>
                <a:latin typeface="IBM Plex Sans" pitchFamily="34" charset="0"/>
                <a:ea typeface="IBM Plex Sans" pitchFamily="34" charset="-122"/>
                <a:cs typeface="IBM Plex Sans" pitchFamily="34" charset="-120"/>
              </a:rPr>
              <a:t>Reti neurali su grafo applicate a farmaci già approvati per individuare attività antibatterica non nota.</a:t>
            </a:r>
            <a:endParaRPr lang="en-US" sz="1392" dirty="0"/>
          </a:p>
        </p:txBody>
      </p:sp>
      <p:sp>
        <p:nvSpPr>
          <p:cNvPr id="5" name="Shape 3"/>
          <p:cNvSpPr/>
          <p:nvPr/>
        </p:nvSpPr>
        <p:spPr>
          <a:xfrm>
            <a:off x="815975" y="2762329"/>
            <a:ext cx="3397250" cy="1866265"/>
          </a:xfrm>
          <a:prstGeom prst="roundRect">
            <a:avLst>
              <a:gd name="adj" fmla="val 5274"/>
            </a:avLst>
          </a:prstGeom>
          <a:solidFill>
            <a:srgbClr val="FFFFFF"/>
          </a:solidFill>
          <a:ln w="6350">
            <a:solidFill>
              <a:srgbClr val="E3DED1"/>
            </a:solidFill>
            <a:prstDash val="solid"/>
          </a:ln>
        </p:spPr>
      </p:sp>
      <p:sp>
        <p:nvSpPr>
          <p:cNvPr id="6" name="Text 4"/>
          <p:cNvSpPr/>
          <p:nvPr/>
        </p:nvSpPr>
        <p:spPr>
          <a:xfrm>
            <a:off x="1046480" y="2992834"/>
            <a:ext cx="3024327" cy="347186"/>
          </a:xfrm>
          <a:prstGeom prst="rect">
            <a:avLst/>
          </a:prstGeom>
          <a:noFill/>
          <a:ln/>
        </p:spPr>
        <p:txBody>
          <a:bodyPr wrap="square" lIns="0" tIns="0" rIns="0" bIns="0" rtlCol="0" anchor="t">
            <a:normAutofit/>
          </a:bodyPr>
          <a:lstStyle/>
          <a:p>
            <a:pPr marL="0" indent="0" algn="l">
              <a:lnSpc>
                <a:spcPts val="2573"/>
              </a:lnSpc>
              <a:buNone/>
            </a:pPr>
            <a:r>
              <a:rPr lang="en-US" sz="2573" b="1" dirty="0">
                <a:solidFill>
                  <a:srgbClr val="8F5A17"/>
                </a:solidFill>
                <a:latin typeface="Source Serif 4" pitchFamily="18" charset="0"/>
                <a:ea typeface="Source Serif 4" pitchFamily="18" charset="-122"/>
                <a:cs typeface="Source Serif 4" pitchFamily="18" charset="-120"/>
              </a:rPr>
              <a:t>1</a:t>
            </a:r>
            <a:endParaRPr lang="en-US" sz="2573" dirty="0"/>
          </a:p>
        </p:txBody>
      </p:sp>
      <p:sp>
        <p:nvSpPr>
          <p:cNvPr id="7" name="Text 5"/>
          <p:cNvSpPr/>
          <p:nvPr/>
        </p:nvSpPr>
        <p:spPr>
          <a:xfrm>
            <a:off x="1046480" y="3403521"/>
            <a:ext cx="3024327" cy="255270"/>
          </a:xfrm>
          <a:prstGeom prst="rect">
            <a:avLst/>
          </a:prstGeom>
          <a:noFill/>
          <a:ln/>
        </p:spPr>
        <p:txBody>
          <a:bodyPr wrap="square" lIns="0" tIns="0" rIns="0" bIns="0" rtlCol="0" anchor="t">
            <a:normAutofit/>
          </a:bodyPr>
          <a:lstStyle/>
          <a:p>
            <a:pPr marL="0" indent="0" algn="l">
              <a:lnSpc>
                <a:spcPts val="1819"/>
              </a:lnSpc>
              <a:buNone/>
            </a:pPr>
            <a:r>
              <a:rPr lang="en-US" sz="1455" b="1" dirty="0">
                <a:solidFill>
                  <a:srgbClr val="16263C"/>
                </a:solidFill>
                <a:latin typeface="IBM Plex Sans" pitchFamily="34" charset="0"/>
                <a:ea typeface="IBM Plex Sans" pitchFamily="34" charset="-122"/>
                <a:cs typeface="IBM Plex Sans" pitchFamily="34" charset="-120"/>
              </a:rPr>
              <a:t>Dati sperimentali</a:t>
            </a:r>
            <a:endParaRPr lang="en-US" sz="1455" dirty="0"/>
          </a:p>
        </p:txBody>
      </p:sp>
      <p:sp>
        <p:nvSpPr>
          <p:cNvPr id="8" name="Text 6"/>
          <p:cNvSpPr/>
          <p:nvPr/>
        </p:nvSpPr>
        <p:spPr>
          <a:xfrm>
            <a:off x="1046480" y="3722291"/>
            <a:ext cx="3024327" cy="701199"/>
          </a:xfrm>
          <a:prstGeom prst="rect">
            <a:avLst/>
          </a:prstGeom>
          <a:noFill/>
          <a:ln/>
        </p:spPr>
        <p:txBody>
          <a:bodyPr wrap="square" lIns="0" tIns="0" rIns="0" bIns="0" rtlCol="0" anchor="t">
            <a:normAutofit/>
          </a:bodyPr>
          <a:lstStyle/>
          <a:p>
            <a:pPr marL="0" indent="0" algn="l">
              <a:lnSpc>
                <a:spcPts val="1789"/>
              </a:lnSpc>
              <a:buNone/>
            </a:pPr>
            <a:r>
              <a:rPr lang="en-US" sz="1278" dirty="0">
                <a:solidFill>
                  <a:srgbClr val="4A5568"/>
                </a:solidFill>
                <a:latin typeface="IBM Plex Sans" pitchFamily="34" charset="0"/>
                <a:ea typeface="IBM Plex Sans" pitchFamily="34" charset="-122"/>
                <a:cs typeface="IBM Plex Sans" pitchFamily="34" charset="-120"/>
              </a:rPr>
              <a:t>Lo screening pubblicato da Liu e colleghi su Nature Chemical Biology nel 2023</a:t>
            </a:r>
            <a:endParaRPr lang="en-US" sz="1278" dirty="0"/>
          </a:p>
        </p:txBody>
      </p:sp>
      <p:sp>
        <p:nvSpPr>
          <p:cNvPr id="9" name="Shape 7"/>
          <p:cNvSpPr/>
          <p:nvPr/>
        </p:nvSpPr>
        <p:spPr>
          <a:xfrm>
            <a:off x="4397375" y="2762329"/>
            <a:ext cx="3397250" cy="1866265"/>
          </a:xfrm>
          <a:prstGeom prst="roundRect">
            <a:avLst>
              <a:gd name="adj" fmla="val 5274"/>
            </a:avLst>
          </a:prstGeom>
          <a:solidFill>
            <a:srgbClr val="FFFFFF"/>
          </a:solidFill>
          <a:ln w="6350">
            <a:solidFill>
              <a:srgbClr val="E3DED1"/>
            </a:solidFill>
            <a:prstDash val="solid"/>
          </a:ln>
        </p:spPr>
      </p:sp>
      <p:sp>
        <p:nvSpPr>
          <p:cNvPr id="10" name="Text 8"/>
          <p:cNvSpPr/>
          <p:nvPr/>
        </p:nvSpPr>
        <p:spPr>
          <a:xfrm>
            <a:off x="4627880" y="2992834"/>
            <a:ext cx="3024327" cy="347186"/>
          </a:xfrm>
          <a:prstGeom prst="rect">
            <a:avLst/>
          </a:prstGeom>
          <a:noFill/>
          <a:ln/>
        </p:spPr>
        <p:txBody>
          <a:bodyPr wrap="square" lIns="0" tIns="0" rIns="0" bIns="0" rtlCol="0" anchor="t">
            <a:normAutofit/>
          </a:bodyPr>
          <a:lstStyle/>
          <a:p>
            <a:pPr marL="0" indent="0" algn="l">
              <a:lnSpc>
                <a:spcPts val="2573"/>
              </a:lnSpc>
              <a:buNone/>
            </a:pPr>
            <a:r>
              <a:rPr lang="en-US" sz="2573" b="1" dirty="0">
                <a:solidFill>
                  <a:srgbClr val="8F5A17"/>
                </a:solidFill>
                <a:latin typeface="Source Serif 4" pitchFamily="18" charset="0"/>
                <a:ea typeface="Source Serif 4" pitchFamily="18" charset="-122"/>
                <a:cs typeface="Source Serif 4" pitchFamily="18" charset="-120"/>
              </a:rPr>
              <a:t>2</a:t>
            </a:r>
            <a:endParaRPr lang="en-US" sz="2573" dirty="0"/>
          </a:p>
        </p:txBody>
      </p:sp>
      <p:sp>
        <p:nvSpPr>
          <p:cNvPr id="11" name="Text 9"/>
          <p:cNvSpPr/>
          <p:nvPr/>
        </p:nvSpPr>
        <p:spPr>
          <a:xfrm>
            <a:off x="4627880" y="3403521"/>
            <a:ext cx="3024327" cy="255270"/>
          </a:xfrm>
          <a:prstGeom prst="rect">
            <a:avLst/>
          </a:prstGeom>
          <a:noFill/>
          <a:ln/>
        </p:spPr>
        <p:txBody>
          <a:bodyPr wrap="square" lIns="0" tIns="0" rIns="0" bIns="0" rtlCol="0" anchor="t">
            <a:normAutofit/>
          </a:bodyPr>
          <a:lstStyle/>
          <a:p>
            <a:pPr marL="0" indent="0" algn="l">
              <a:lnSpc>
                <a:spcPts val="1819"/>
              </a:lnSpc>
              <a:buNone/>
            </a:pPr>
            <a:r>
              <a:rPr lang="en-US" sz="1455" b="1" dirty="0">
                <a:solidFill>
                  <a:srgbClr val="16263C"/>
                </a:solidFill>
                <a:latin typeface="IBM Plex Sans" pitchFamily="34" charset="0"/>
                <a:ea typeface="IBM Plex Sans" pitchFamily="34" charset="-122"/>
                <a:cs typeface="IBM Plex Sans" pitchFamily="34" charset="-120"/>
              </a:rPr>
              <a:t>Modello interpretabile</a:t>
            </a:r>
            <a:endParaRPr lang="en-US" sz="1455" dirty="0"/>
          </a:p>
        </p:txBody>
      </p:sp>
      <p:sp>
        <p:nvSpPr>
          <p:cNvPr id="12" name="Text 10"/>
          <p:cNvSpPr/>
          <p:nvPr/>
        </p:nvSpPr>
        <p:spPr>
          <a:xfrm>
            <a:off x="4627880" y="3722291"/>
            <a:ext cx="3024327" cy="701199"/>
          </a:xfrm>
          <a:prstGeom prst="rect">
            <a:avLst/>
          </a:prstGeom>
          <a:noFill/>
          <a:ln/>
        </p:spPr>
        <p:txBody>
          <a:bodyPr wrap="square" lIns="0" tIns="0" rIns="0" bIns="0" rtlCol="0" anchor="t">
            <a:normAutofit/>
          </a:bodyPr>
          <a:lstStyle/>
          <a:p>
            <a:pPr marL="0" indent="0" algn="l">
              <a:lnSpc>
                <a:spcPts val="1770"/>
              </a:lnSpc>
              <a:buNone/>
            </a:pPr>
            <a:r>
              <a:rPr lang="en-US" sz="1264" dirty="0">
                <a:solidFill>
                  <a:srgbClr val="4A5568"/>
                </a:solidFill>
                <a:latin typeface="IBM Plex Sans" pitchFamily="34" charset="0"/>
                <a:ea typeface="IBM Plex Sans" pitchFamily="34" charset="-122"/>
                <a:cs typeface="IBM Plex Sans" pitchFamily="34" charset="-120"/>
              </a:rPr>
              <a:t>Reti su grafo sulle strutture molecolari con analisi delle porzioni che determinano la predizione</a:t>
            </a:r>
            <a:endParaRPr lang="en-US" sz="1264" dirty="0"/>
          </a:p>
        </p:txBody>
      </p:sp>
      <p:sp>
        <p:nvSpPr>
          <p:cNvPr id="13" name="Shape 11"/>
          <p:cNvSpPr/>
          <p:nvPr/>
        </p:nvSpPr>
        <p:spPr>
          <a:xfrm>
            <a:off x="7978775" y="2762329"/>
            <a:ext cx="3397250" cy="1866265"/>
          </a:xfrm>
          <a:prstGeom prst="roundRect">
            <a:avLst>
              <a:gd name="adj" fmla="val 5274"/>
            </a:avLst>
          </a:prstGeom>
          <a:solidFill>
            <a:srgbClr val="FFFFFF"/>
          </a:solidFill>
          <a:ln w="6350">
            <a:solidFill>
              <a:srgbClr val="E3DED1"/>
            </a:solidFill>
            <a:prstDash val="solid"/>
          </a:ln>
        </p:spPr>
      </p:sp>
      <p:sp>
        <p:nvSpPr>
          <p:cNvPr id="14" name="Text 12"/>
          <p:cNvSpPr/>
          <p:nvPr/>
        </p:nvSpPr>
        <p:spPr>
          <a:xfrm>
            <a:off x="8209280" y="2992834"/>
            <a:ext cx="3024327" cy="347186"/>
          </a:xfrm>
          <a:prstGeom prst="rect">
            <a:avLst/>
          </a:prstGeom>
          <a:noFill/>
          <a:ln/>
        </p:spPr>
        <p:txBody>
          <a:bodyPr wrap="square" lIns="0" tIns="0" rIns="0" bIns="0" rtlCol="0" anchor="t">
            <a:normAutofit/>
          </a:bodyPr>
          <a:lstStyle/>
          <a:p>
            <a:pPr marL="0" indent="0" algn="l">
              <a:lnSpc>
                <a:spcPts val="2573"/>
              </a:lnSpc>
              <a:buNone/>
            </a:pPr>
            <a:r>
              <a:rPr lang="en-US" sz="2573" b="1" dirty="0">
                <a:solidFill>
                  <a:srgbClr val="8F5A17"/>
                </a:solidFill>
                <a:latin typeface="Source Serif 4" pitchFamily="18" charset="0"/>
                <a:ea typeface="Source Serif 4" pitchFamily="18" charset="-122"/>
                <a:cs typeface="Source Serif 4" pitchFamily="18" charset="-120"/>
              </a:rPr>
              <a:t>3</a:t>
            </a:r>
            <a:endParaRPr lang="en-US" sz="2573" dirty="0"/>
          </a:p>
        </p:txBody>
      </p:sp>
      <p:sp>
        <p:nvSpPr>
          <p:cNvPr id="15" name="Text 13"/>
          <p:cNvSpPr/>
          <p:nvPr/>
        </p:nvSpPr>
        <p:spPr>
          <a:xfrm>
            <a:off x="8209280" y="3403521"/>
            <a:ext cx="3024327" cy="255270"/>
          </a:xfrm>
          <a:prstGeom prst="rect">
            <a:avLst/>
          </a:prstGeom>
          <a:noFill/>
          <a:ln/>
        </p:spPr>
        <p:txBody>
          <a:bodyPr wrap="square" lIns="0" tIns="0" rIns="0" bIns="0" rtlCol="0" anchor="t">
            <a:normAutofit/>
          </a:bodyPr>
          <a:lstStyle/>
          <a:p>
            <a:pPr marL="0" indent="0" algn="l">
              <a:lnSpc>
                <a:spcPts val="1819"/>
              </a:lnSpc>
              <a:buNone/>
            </a:pPr>
            <a:r>
              <a:rPr lang="en-US" sz="1455" b="1" dirty="0">
                <a:solidFill>
                  <a:srgbClr val="16263C"/>
                </a:solidFill>
                <a:latin typeface="IBM Plex Sans" pitchFamily="34" charset="0"/>
                <a:ea typeface="IBM Plex Sans" pitchFamily="34" charset="-122"/>
                <a:cs typeface="IBM Plex Sans" pitchFamily="34" charset="-120"/>
              </a:rPr>
              <a:t>Validazione in corso</a:t>
            </a:r>
            <a:endParaRPr lang="en-US" sz="1455" dirty="0"/>
          </a:p>
        </p:txBody>
      </p:sp>
      <p:sp>
        <p:nvSpPr>
          <p:cNvPr id="16" name="Text 14"/>
          <p:cNvSpPr/>
          <p:nvPr/>
        </p:nvSpPr>
        <p:spPr>
          <a:xfrm>
            <a:off x="8209280" y="3722291"/>
            <a:ext cx="3024327" cy="701199"/>
          </a:xfrm>
          <a:prstGeom prst="rect">
            <a:avLst/>
          </a:prstGeom>
          <a:noFill/>
          <a:ln/>
        </p:spPr>
        <p:txBody>
          <a:bodyPr wrap="square" lIns="0" tIns="0" rIns="0" bIns="0" rtlCol="0" anchor="t">
            <a:normAutofit/>
          </a:bodyPr>
          <a:lstStyle/>
          <a:p>
            <a:pPr marL="0" indent="0" algn="l">
              <a:lnSpc>
                <a:spcPts val="1770"/>
              </a:lnSpc>
              <a:buNone/>
            </a:pPr>
            <a:r>
              <a:rPr lang="en-US" sz="1264" dirty="0">
                <a:solidFill>
                  <a:srgbClr val="4A5568"/>
                </a:solidFill>
                <a:latin typeface="IBM Plex Sans" pitchFamily="34" charset="0"/>
              </a:rPr>
              <a:t>Un </a:t>
            </a:r>
            <a:r>
              <a:rPr lang="en-US" sz="1264" dirty="0" err="1">
                <a:solidFill>
                  <a:srgbClr val="4A5568"/>
                </a:solidFill>
                <a:latin typeface="IBM Plex Sans" pitchFamily="34" charset="0"/>
              </a:rPr>
              <a:t>farmaco</a:t>
            </a:r>
            <a:r>
              <a:rPr lang="en-US" sz="1264" dirty="0">
                <a:solidFill>
                  <a:srgbClr val="4A5568"/>
                </a:solidFill>
                <a:latin typeface="IBM Plex Sans" pitchFamily="34" charset="0"/>
              </a:rPr>
              <a:t> </a:t>
            </a:r>
            <a:r>
              <a:rPr lang="en-US" sz="1264" dirty="0" err="1">
                <a:solidFill>
                  <a:srgbClr val="4A5568"/>
                </a:solidFill>
                <a:latin typeface="IBM Plex Sans" pitchFamily="34" charset="0"/>
              </a:rPr>
              <a:t>validato</a:t>
            </a:r>
            <a:endParaRPr lang="en-US" sz="1264" dirty="0"/>
          </a:p>
        </p:txBody>
      </p:sp>
      <p:sp>
        <p:nvSpPr>
          <p:cNvPr id="17" name="Shape 15"/>
          <p:cNvSpPr/>
          <p:nvPr/>
        </p:nvSpPr>
        <p:spPr>
          <a:xfrm>
            <a:off x="812800" y="4936570"/>
            <a:ext cx="10566400" cy="905431"/>
          </a:xfrm>
          <a:prstGeom prst="rect">
            <a:avLst/>
          </a:prstGeom>
          <a:solidFill>
            <a:srgbClr val="EFEBE1"/>
          </a:solidFill>
          <a:ln/>
        </p:spPr>
      </p:sp>
      <p:sp>
        <p:nvSpPr>
          <p:cNvPr id="18" name="Shape 16"/>
          <p:cNvSpPr/>
          <p:nvPr/>
        </p:nvSpPr>
        <p:spPr>
          <a:xfrm>
            <a:off x="828675" y="4936570"/>
            <a:ext cx="0" cy="905431"/>
          </a:xfrm>
          <a:prstGeom prst="line">
            <a:avLst/>
          </a:prstGeom>
          <a:noFill/>
          <a:ln w="31750">
            <a:solidFill>
              <a:srgbClr val="2E6F63"/>
            </a:solidFill>
            <a:prstDash val="solid"/>
          </a:ln>
        </p:spPr>
      </p:sp>
      <p:sp>
        <p:nvSpPr>
          <p:cNvPr id="19" name="Text 17"/>
          <p:cNvSpPr/>
          <p:nvPr/>
        </p:nvSpPr>
        <p:spPr>
          <a:xfrm>
            <a:off x="1097280" y="5139770"/>
            <a:ext cx="10328758" cy="524431"/>
          </a:xfrm>
          <a:prstGeom prst="rect">
            <a:avLst/>
          </a:prstGeom>
          <a:noFill/>
          <a:ln/>
        </p:spPr>
        <p:txBody>
          <a:bodyPr wrap="square" lIns="0" tIns="0" rIns="0" bIns="0" rtlCol="0" anchor="t">
            <a:normAutofit/>
          </a:bodyPr>
          <a:lstStyle/>
          <a:p>
            <a:pPr marL="0" indent="0" algn="l">
              <a:lnSpc>
                <a:spcPts val="1982"/>
              </a:lnSpc>
              <a:buNone/>
            </a:pPr>
            <a:r>
              <a:rPr lang="en-US" sz="1416" dirty="0">
                <a:solidFill>
                  <a:srgbClr val="16263C"/>
                </a:solidFill>
                <a:latin typeface="IBM Plex Sans" pitchFamily="34" charset="0"/>
                <a:ea typeface="IBM Plex Sans" pitchFamily="34" charset="-122"/>
                <a:cs typeface="IBM Plex Sans" pitchFamily="34" charset="-120"/>
              </a:rPr>
              <a:t>Manoscritto in preparazione. Codice del modello e protocollo di validazione ricostruiti integralmente per garantire la riproducibilità dei </a:t>
            </a:r>
            <a:r>
              <a:rPr lang="en-US" sz="1416" dirty="0" err="1">
                <a:solidFill>
                  <a:srgbClr val="16263C"/>
                </a:solidFill>
                <a:latin typeface="IBM Plex Sans" pitchFamily="34" charset="0"/>
                <a:ea typeface="IBM Plex Sans" pitchFamily="34" charset="-122"/>
                <a:cs typeface="IBM Plex Sans" pitchFamily="34" charset="-120"/>
              </a:rPr>
              <a:t>risultati</a:t>
            </a:r>
            <a:r>
              <a:rPr lang="en-US" sz="1416" dirty="0">
                <a:solidFill>
                  <a:srgbClr val="16263C"/>
                </a:solidFill>
                <a:latin typeface="IBM Plex Sans" pitchFamily="34" charset="0"/>
                <a:ea typeface="IBM Plex Sans" pitchFamily="34" charset="-122"/>
                <a:cs typeface="IBM Plex Sans" pitchFamily="34" charset="-120"/>
              </a:rPr>
              <a:t> </a:t>
            </a:r>
            <a:r>
              <a:rPr lang="en-US" sz="1416" dirty="0" err="1">
                <a:solidFill>
                  <a:srgbClr val="16263C"/>
                </a:solidFill>
                <a:latin typeface="IBM Plex Sans" pitchFamily="34" charset="0"/>
                <a:ea typeface="IBM Plex Sans" pitchFamily="34" charset="-122"/>
                <a:cs typeface="IBM Plex Sans" pitchFamily="34" charset="-120"/>
              </a:rPr>
              <a:t>pubblicati</a:t>
            </a:r>
            <a:r>
              <a:rPr lang="en-US" sz="1416" dirty="0">
                <a:solidFill>
                  <a:srgbClr val="16263C"/>
                </a:solidFill>
                <a:latin typeface="IBM Plex Sans" pitchFamily="34" charset="0"/>
                <a:ea typeface="IBM Plex Sans" pitchFamily="34" charset="-122"/>
                <a:cs typeface="IBM Plex Sans" pitchFamily="34" charset="-120"/>
              </a:rPr>
              <a:t> </a:t>
            </a:r>
            <a:r>
              <a:rPr lang="en-US" sz="1416" dirty="0" err="1">
                <a:solidFill>
                  <a:srgbClr val="16263C"/>
                </a:solidFill>
                <a:latin typeface="IBM Plex Sans" pitchFamily="34" charset="0"/>
                <a:ea typeface="IBM Plex Sans" pitchFamily="34" charset="-122"/>
                <a:cs typeface="IBM Plex Sans" pitchFamily="34" charset="-120"/>
              </a:rPr>
              <a:t>su</a:t>
            </a:r>
            <a:r>
              <a:rPr lang="en-US" sz="1416" dirty="0">
                <a:solidFill>
                  <a:srgbClr val="16263C"/>
                </a:solidFill>
                <a:latin typeface="IBM Plex Sans" pitchFamily="34" charset="0"/>
                <a:ea typeface="IBM Plex Sans" pitchFamily="34" charset="-122"/>
                <a:cs typeface="IBM Plex Sans" pitchFamily="34" charset="-120"/>
              </a:rPr>
              <a:t> </a:t>
            </a:r>
            <a:r>
              <a:rPr lang="en-US" sz="1416" dirty="0" err="1">
                <a:solidFill>
                  <a:srgbClr val="16263C"/>
                </a:solidFill>
                <a:latin typeface="IBM Plex Sans" pitchFamily="34" charset="0"/>
                <a:ea typeface="IBM Plex Sans" pitchFamily="34" charset="-122"/>
                <a:cs typeface="IBM Plex Sans" pitchFamily="34" charset="-120"/>
              </a:rPr>
              <a:t>github</a:t>
            </a:r>
            <a:r>
              <a:rPr lang="en-US" sz="1416" dirty="0">
                <a:solidFill>
                  <a:srgbClr val="16263C"/>
                </a:solidFill>
                <a:latin typeface="IBM Plex Sans" pitchFamily="34" charset="0"/>
                <a:ea typeface="IBM Plex Sans" pitchFamily="34" charset="-122"/>
                <a:cs typeface="IBM Plex Sans" pitchFamily="34" charset="-120"/>
              </a:rPr>
              <a:t>.</a:t>
            </a:r>
            <a:endParaRPr lang="en-US" sz="1416" dirty="0"/>
          </a:p>
        </p:txBody>
      </p:sp>
      <p:sp>
        <p:nvSpPr>
          <p:cNvPr id="20" name="Text 18"/>
          <p:cNvSpPr/>
          <p:nvPr/>
        </p:nvSpPr>
        <p:spPr>
          <a:xfrm>
            <a:off x="812800" y="6220461"/>
            <a:ext cx="10883392" cy="256540"/>
          </a:xfrm>
          <a:prstGeom prst="rect">
            <a:avLst/>
          </a:prstGeom>
          <a:noFill/>
          <a:ln/>
        </p:spPr>
        <p:txBody>
          <a:bodyPr wrap="square" lIns="0" tIns="0" rIns="0" bIns="0" rtlCol="0" anchor="t">
            <a:normAutofit/>
          </a:bodyPr>
          <a:lstStyle/>
          <a:p>
            <a:pPr marL="0" indent="0" algn="l">
              <a:lnSpc>
                <a:spcPts val="1820"/>
              </a:lnSpc>
              <a:buNone/>
            </a:pP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8F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200" dirty="0">
                <a:solidFill>
                  <a:srgbClr val="2E6F63"/>
                </a:solidFill>
                <a:latin typeface="IBM Plex Sans" pitchFamily="34" charset="0"/>
                <a:ea typeface="IBM Plex Sans" pitchFamily="34" charset="-122"/>
                <a:cs typeface="IBM Plex Sans" pitchFamily="34" charset="-120"/>
              </a:rPr>
              <a:t>FILONE 3 · GENOMICA COMPARATA</a:t>
            </a:r>
            <a:endParaRPr lang="en-US" sz="1300" dirty="0"/>
          </a:p>
        </p:txBody>
      </p:sp>
      <p:sp>
        <p:nvSpPr>
          <p:cNvPr id="3" name="Text 1"/>
          <p:cNvSpPr>
            <a:spLocks noGrp="1"/>
          </p:cNvSpPr>
          <p:nvPr>
            <p:ph type="title"/>
          </p:nvPr>
        </p:nvSpPr>
        <p:spPr>
          <a:xfrm>
            <a:off x="812800" y="1170939"/>
            <a:ext cx="10883392" cy="521970"/>
          </a:xfrm>
          <a:prstGeom prst="rect">
            <a:avLst/>
          </a:prstGeom>
          <a:noFill/>
          <a:ln/>
        </p:spPr>
        <p:txBody>
          <a:bodyPr wrap="square" lIns="0" tIns="0" rIns="0" bIns="0" rtlCol="0" anchor="t">
            <a:normAutofit/>
          </a:bodyPr>
          <a:lstStyle/>
          <a:p>
            <a:pPr marL="0" indent="0" algn="l">
              <a:lnSpc>
                <a:spcPts val="3910"/>
              </a:lnSpc>
              <a:buNone/>
            </a:pPr>
            <a:r>
              <a:rPr lang="en-US" sz="3400" b="1" i="0" dirty="0">
                <a:solidFill>
                  <a:srgbClr val="16263C"/>
                </a:solidFill>
                <a:latin typeface="Source Serif 4" pitchFamily="18" charset="0"/>
                <a:ea typeface="Source Serif 4" pitchFamily="18" charset="-122"/>
                <a:cs typeface="Source Serif 4" pitchFamily="18" charset="-120"/>
              </a:rPr>
              <a:t>Cinquecento milioni di anni di metilazione</a:t>
            </a:r>
            <a:endParaRPr lang="en-US" sz="3400" dirty="0"/>
          </a:p>
        </p:txBody>
      </p:sp>
      <p:sp>
        <p:nvSpPr>
          <p:cNvPr id="4" name="Text 2"/>
          <p:cNvSpPr/>
          <p:nvPr/>
        </p:nvSpPr>
        <p:spPr>
          <a:xfrm>
            <a:off x="812800" y="2938782"/>
            <a:ext cx="7168388" cy="577850"/>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4A5568"/>
                </a:solidFill>
                <a:latin typeface="IBM Plex Sans" pitchFamily="34" charset="0"/>
                <a:ea typeface="IBM Plex Sans" pitchFamily="34" charset="-122"/>
                <a:cs typeface="IBM Plex Sans" pitchFamily="34" charset="-120"/>
              </a:rPr>
              <a:t>La perdita di CpG dovuta alla deaminazione delle citosine metilate organizza la composizione dinucleotidica dei genomi dei vertebrati.</a:t>
            </a:r>
            <a:endParaRPr lang="en-US" sz="1500" dirty="0"/>
          </a:p>
        </p:txBody>
      </p:sp>
      <p:sp>
        <p:nvSpPr>
          <p:cNvPr id="5" name="Text 3"/>
          <p:cNvSpPr/>
          <p:nvPr/>
        </p:nvSpPr>
        <p:spPr>
          <a:xfrm>
            <a:off x="883920" y="3630932"/>
            <a:ext cx="7089648" cy="1682750"/>
          </a:xfrm>
          <a:prstGeom prst="rect">
            <a:avLst/>
          </a:prstGeom>
          <a:noFill/>
          <a:ln/>
        </p:spPr>
        <p:txBody>
          <a:bodyPr wrap="square" lIns="0" tIns="0" rIns="0" bIns="0" rtlCol="0" anchor="t">
            <a:normAutofit/>
          </a:bodyPr>
          <a:lstStyle/>
          <a:p>
            <a:pPr marL="182880" indent="-182880" algn="l">
              <a:lnSpc>
                <a:spcPts val="2175"/>
              </a:lnSpc>
              <a:buSzPct val="100000"/>
              <a:buChar char="•"/>
            </a:pPr>
            <a:r>
              <a:rPr lang="en-US" sz="1500" dirty="0">
                <a:solidFill>
                  <a:srgbClr val="16263C"/>
                </a:solidFill>
                <a:latin typeface="IBM Plex Sans" pitchFamily="34" charset="0"/>
                <a:ea typeface="IBM Plex Sans" pitchFamily="34" charset="-122"/>
                <a:cs typeface="IBM Plex Sans" pitchFamily="34" charset="-120"/>
              </a:rPr>
              <a:t>La firma più forte della perdita non è il prodotto diretto della reazione ma la coppia AG/CT</a:t>
            </a:r>
            <a:endParaRPr lang="en-US" sz="1500" dirty="0"/>
          </a:p>
          <a:p>
            <a:pPr marL="182880" indent="-182880" algn="l">
              <a:lnSpc>
                <a:spcPts val="2175"/>
              </a:lnSpc>
              <a:buSzPct val="100000"/>
              <a:buChar char="•"/>
            </a:pPr>
            <a:r>
              <a:rPr lang="en-US" sz="1500" dirty="0">
                <a:solidFill>
                  <a:srgbClr val="16263C"/>
                </a:solidFill>
                <a:latin typeface="IBM Plex Sans" pitchFamily="34" charset="0"/>
                <a:ea typeface="IBM Plex Sans" pitchFamily="34" charset="-122"/>
                <a:cs typeface="IBM Plex Sans" pitchFamily="34" charset="-120"/>
              </a:rPr>
              <a:t>Un modello di evoluzione forward su tassi di sostituzione a sette nucleotidi riproduce entrambi i fenomeni con un solo parametro</a:t>
            </a:r>
            <a:endParaRPr lang="en-US" sz="1500" dirty="0"/>
          </a:p>
          <a:p>
            <a:pPr marL="182880" indent="-182880" algn="l">
              <a:lnSpc>
                <a:spcPts val="2175"/>
              </a:lnSpc>
              <a:buSzPct val="100000"/>
              <a:buChar char="•"/>
            </a:pPr>
            <a:r>
              <a:rPr lang="en-US" sz="1500" dirty="0">
                <a:solidFill>
                  <a:srgbClr val="16263C"/>
                </a:solidFill>
                <a:latin typeface="IBM Plex Sans" pitchFamily="34" charset="0"/>
                <a:ea typeface="IBM Plex Sans" pitchFamily="34" charset="-122"/>
                <a:cs typeface="IBM Plex Sans" pitchFamily="34" charset="-120"/>
              </a:rPr>
              <a:t>Il segnale è concentrato negli elementi trasponibili e segue la linea degli amnioti più dell'endotermia</a:t>
            </a:r>
            <a:endParaRPr lang="en-US" sz="1500" dirty="0"/>
          </a:p>
        </p:txBody>
      </p:sp>
      <p:sp>
        <p:nvSpPr>
          <p:cNvPr id="6" name="Shape 4"/>
          <p:cNvSpPr/>
          <p:nvPr/>
        </p:nvSpPr>
        <p:spPr>
          <a:xfrm>
            <a:off x="8077200" y="2938782"/>
            <a:ext cx="3302000" cy="1259840"/>
          </a:xfrm>
          <a:prstGeom prst="roundRect">
            <a:avLst>
              <a:gd name="adj" fmla="val 8065"/>
            </a:avLst>
          </a:prstGeom>
          <a:solidFill>
            <a:srgbClr val="16263C"/>
          </a:solidFill>
          <a:ln/>
        </p:spPr>
      </p:sp>
      <p:sp>
        <p:nvSpPr>
          <p:cNvPr id="7" name="Text 5"/>
          <p:cNvSpPr/>
          <p:nvPr/>
        </p:nvSpPr>
        <p:spPr>
          <a:xfrm>
            <a:off x="8331200" y="3167382"/>
            <a:ext cx="2877820" cy="533400"/>
          </a:xfrm>
          <a:prstGeom prst="rect">
            <a:avLst/>
          </a:prstGeom>
          <a:noFill/>
          <a:ln/>
        </p:spPr>
        <p:txBody>
          <a:bodyPr wrap="square" lIns="0" tIns="0" rIns="0" bIns="0" rtlCol="0" anchor="t">
            <a:normAutofit/>
          </a:bodyPr>
          <a:lstStyle/>
          <a:p>
            <a:pPr marL="0" indent="0" algn="l">
              <a:lnSpc>
                <a:spcPts val="4000"/>
              </a:lnSpc>
              <a:buNone/>
            </a:pPr>
            <a:r>
              <a:rPr lang="en-US" sz="4000" b="1" dirty="0">
                <a:solidFill>
                  <a:srgbClr val="6FBFAE"/>
                </a:solidFill>
                <a:latin typeface="Source Serif 4" pitchFamily="18" charset="0"/>
                <a:ea typeface="Source Serif 4" pitchFamily="18" charset="-122"/>
                <a:cs typeface="Source Serif 4" pitchFamily="18" charset="-120"/>
              </a:rPr>
              <a:t>753</a:t>
            </a:r>
            <a:endParaRPr lang="en-US" sz="4000" dirty="0"/>
          </a:p>
        </p:txBody>
      </p:sp>
      <p:sp>
        <p:nvSpPr>
          <p:cNvPr id="8" name="Text 6"/>
          <p:cNvSpPr/>
          <p:nvPr/>
        </p:nvSpPr>
        <p:spPr>
          <a:xfrm>
            <a:off x="8331200" y="3738882"/>
            <a:ext cx="2877820" cy="25654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FAF8F3"/>
                </a:solidFill>
                <a:latin typeface="IBM Plex Sans" pitchFamily="34" charset="0"/>
                <a:ea typeface="IBM Plex Sans" pitchFamily="34" charset="-122"/>
                <a:cs typeface="IBM Plex Sans" pitchFamily="34" charset="-120"/>
              </a:rPr>
              <a:t>Genomi di vertebrati analizzati</a:t>
            </a:r>
            <a:endParaRPr lang="en-US" sz="1400" dirty="0"/>
          </a:p>
        </p:txBody>
      </p:sp>
      <p:sp>
        <p:nvSpPr>
          <p:cNvPr id="9" name="Shape 7"/>
          <p:cNvSpPr/>
          <p:nvPr/>
        </p:nvSpPr>
        <p:spPr>
          <a:xfrm>
            <a:off x="8077200" y="4351021"/>
            <a:ext cx="3302000" cy="1490980"/>
          </a:xfrm>
          <a:prstGeom prst="roundRect">
            <a:avLst>
              <a:gd name="adj" fmla="val 6814"/>
            </a:avLst>
          </a:prstGeom>
          <a:solidFill>
            <a:srgbClr val="EFEBE1"/>
          </a:solidFill>
          <a:ln/>
        </p:spPr>
      </p:sp>
      <p:sp>
        <p:nvSpPr>
          <p:cNvPr id="10" name="Text 8"/>
          <p:cNvSpPr/>
          <p:nvPr/>
        </p:nvSpPr>
        <p:spPr>
          <a:xfrm>
            <a:off x="8331200" y="4579621"/>
            <a:ext cx="2877820" cy="533400"/>
          </a:xfrm>
          <a:prstGeom prst="rect">
            <a:avLst/>
          </a:prstGeom>
          <a:noFill/>
          <a:ln/>
        </p:spPr>
        <p:txBody>
          <a:bodyPr wrap="square" lIns="0" tIns="0" rIns="0" bIns="0" rtlCol="0" anchor="t">
            <a:normAutofit/>
          </a:bodyPr>
          <a:lstStyle/>
          <a:p>
            <a:pPr marL="0" indent="0" algn="l">
              <a:lnSpc>
                <a:spcPts val="4000"/>
              </a:lnSpc>
              <a:buNone/>
            </a:pPr>
            <a:r>
              <a:rPr lang="en-US" sz="4000" b="1" dirty="0">
                <a:solidFill>
                  <a:srgbClr val="8F5A17"/>
                </a:solidFill>
                <a:latin typeface="Source Serif 4" pitchFamily="18" charset="0"/>
                <a:ea typeface="Source Serif 4" pitchFamily="18" charset="-122"/>
                <a:cs typeface="Source Serif 4" pitchFamily="18" charset="-120"/>
              </a:rPr>
              <a:t>481</a:t>
            </a:r>
            <a:endParaRPr lang="en-US" sz="4000" dirty="0"/>
          </a:p>
        </p:txBody>
      </p:sp>
      <p:sp>
        <p:nvSpPr>
          <p:cNvPr id="11" name="Text 9"/>
          <p:cNvSpPr/>
          <p:nvPr/>
        </p:nvSpPr>
        <p:spPr>
          <a:xfrm>
            <a:off x="8331200" y="5151121"/>
            <a:ext cx="2877820" cy="48768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6263C"/>
                </a:solidFill>
                <a:latin typeface="IBM Plex Sans" pitchFamily="34" charset="0"/>
                <a:ea typeface="IBM Plex Sans" pitchFamily="34" charset="-122"/>
                <a:cs typeface="IBM Plex Sans" pitchFamily="34" charset="-120"/>
              </a:rPr>
              <a:t>Genomi di invertebrati come controllo</a:t>
            </a:r>
            <a:endParaRPr lang="en-US" sz="1400" dirty="0"/>
          </a:p>
        </p:txBody>
      </p:sp>
      <p:sp>
        <p:nvSpPr>
          <p:cNvPr id="12" name="Text 10"/>
          <p:cNvSpPr/>
          <p:nvPr/>
        </p:nvSpPr>
        <p:spPr>
          <a:xfrm>
            <a:off x="812800" y="6220461"/>
            <a:ext cx="10883392"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6B7280"/>
                </a:solidFill>
                <a:latin typeface="IBM Plex Sans" pitchFamily="34" charset="0"/>
                <a:ea typeface="IBM Plex Sans" pitchFamily="34" charset="-122"/>
                <a:cs typeface="IBM Plex Sans" pitchFamily="34" charset="-120"/>
              </a:rPr>
              <a:t>Bobbo, Widuranga, Boattini, Liò, Taccioli. Preprint bioRxiv, 2026</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8F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200" dirty="0">
                <a:solidFill>
                  <a:srgbClr val="2E6F63"/>
                </a:solidFill>
                <a:latin typeface="IBM Plex Sans" pitchFamily="34" charset="0"/>
                <a:ea typeface="IBM Plex Sans" pitchFamily="34" charset="-122"/>
                <a:cs typeface="IBM Plex Sans" pitchFamily="34" charset="-120"/>
              </a:rPr>
              <a:t>PROGETTUALITÀ</a:t>
            </a:r>
            <a:endParaRPr lang="en-US" sz="1300" dirty="0"/>
          </a:p>
        </p:txBody>
      </p:sp>
      <p:sp>
        <p:nvSpPr>
          <p:cNvPr id="3" name="Text 1"/>
          <p:cNvSpPr>
            <a:spLocks noGrp="1"/>
          </p:cNvSpPr>
          <p:nvPr>
            <p:ph type="title"/>
          </p:nvPr>
        </p:nvSpPr>
        <p:spPr>
          <a:xfrm>
            <a:off x="812800" y="1170939"/>
            <a:ext cx="10883392" cy="521970"/>
          </a:xfrm>
          <a:prstGeom prst="rect">
            <a:avLst/>
          </a:prstGeom>
          <a:noFill/>
          <a:ln/>
        </p:spPr>
        <p:txBody>
          <a:bodyPr wrap="square" lIns="0" tIns="0" rIns="0" bIns="0" rtlCol="0" anchor="t">
            <a:normAutofit/>
          </a:bodyPr>
          <a:lstStyle/>
          <a:p>
            <a:pPr marL="0" indent="0" algn="l">
              <a:lnSpc>
                <a:spcPts val="3910"/>
              </a:lnSpc>
              <a:buNone/>
            </a:pPr>
            <a:r>
              <a:rPr lang="en-US" sz="3400" b="1" i="0" dirty="0">
                <a:solidFill>
                  <a:srgbClr val="16263C"/>
                </a:solidFill>
                <a:latin typeface="Source Serif 4" pitchFamily="18" charset="0"/>
                <a:ea typeface="Source Serif 4" pitchFamily="18" charset="-122"/>
                <a:cs typeface="Source Serif 4" pitchFamily="18" charset="-120"/>
              </a:rPr>
              <a:t>Sei domande di finanziamento nate dal periodo</a:t>
            </a:r>
            <a:endParaRPr lang="en-US" sz="3400" dirty="0"/>
          </a:p>
        </p:txBody>
      </p:sp>
      <p:sp>
        <p:nvSpPr>
          <p:cNvPr id="4" name="Shape 2"/>
          <p:cNvSpPr/>
          <p:nvPr/>
        </p:nvSpPr>
        <p:spPr>
          <a:xfrm>
            <a:off x="11376025" y="2919732"/>
            <a:ext cx="0" cy="2922270"/>
          </a:xfrm>
          <a:prstGeom prst="line">
            <a:avLst/>
          </a:prstGeom>
          <a:noFill/>
          <a:ln w="6350">
            <a:solidFill>
              <a:srgbClr val="E3DED1"/>
            </a:solidFill>
            <a:prstDash val="solid"/>
          </a:ln>
        </p:spPr>
      </p:sp>
      <p:sp>
        <p:nvSpPr>
          <p:cNvPr id="5" name="Shape 3"/>
          <p:cNvSpPr/>
          <p:nvPr/>
        </p:nvSpPr>
        <p:spPr>
          <a:xfrm>
            <a:off x="812800" y="5838827"/>
            <a:ext cx="10566400" cy="0"/>
          </a:xfrm>
          <a:prstGeom prst="line">
            <a:avLst/>
          </a:prstGeom>
          <a:noFill/>
          <a:ln w="6350">
            <a:solidFill>
              <a:srgbClr val="E3DED1"/>
            </a:solidFill>
            <a:prstDash val="solid"/>
          </a:ln>
        </p:spPr>
      </p:sp>
      <p:sp>
        <p:nvSpPr>
          <p:cNvPr id="6" name="Shape 4"/>
          <p:cNvSpPr/>
          <p:nvPr/>
        </p:nvSpPr>
        <p:spPr>
          <a:xfrm>
            <a:off x="812800" y="2924812"/>
            <a:ext cx="10566400" cy="0"/>
          </a:xfrm>
          <a:prstGeom prst="line">
            <a:avLst/>
          </a:prstGeom>
          <a:noFill/>
          <a:ln w="10160">
            <a:solidFill>
              <a:srgbClr val="141413">
                <a:alpha val="22000"/>
              </a:srgbClr>
            </a:solidFill>
            <a:prstDash val="solid"/>
          </a:ln>
        </p:spPr>
      </p:sp>
      <p:sp>
        <p:nvSpPr>
          <p:cNvPr id="7" name="Shape 5"/>
          <p:cNvSpPr/>
          <p:nvPr/>
        </p:nvSpPr>
        <p:spPr>
          <a:xfrm>
            <a:off x="817880" y="2919732"/>
            <a:ext cx="0" cy="2922270"/>
          </a:xfrm>
          <a:prstGeom prst="line">
            <a:avLst/>
          </a:prstGeom>
          <a:noFill/>
          <a:ln w="10160">
            <a:solidFill>
              <a:srgbClr val="141413">
                <a:alpha val="22000"/>
              </a:srgbClr>
            </a:solidFill>
            <a:prstDash val="solid"/>
          </a:ln>
        </p:spPr>
      </p:sp>
      <p:graphicFrame>
        <p:nvGraphicFramePr>
          <p:cNvPr id="8" name="Table 0"/>
          <p:cNvGraphicFramePr>
            <a:graphicFrameLocks noGrp="1"/>
          </p:cNvGraphicFramePr>
          <p:nvPr>
            <p:extLst>
              <p:ext uri="{D42A27DB-BD31-4B8C-83A1-F6EECF244321}">
                <p14:modId xmlns:p14="http://schemas.microsoft.com/office/powerpoint/2010/main" val="3968331584"/>
              </p:ext>
            </p:extLst>
          </p:nvPr>
        </p:nvGraphicFramePr>
        <p:xfrm>
          <a:off x="937260" y="3018792"/>
          <a:ext cx="10322559" cy="2929890"/>
        </p:xfrm>
        <a:graphic>
          <a:graphicData uri="http://schemas.openxmlformats.org/drawingml/2006/table">
            <a:tbl>
              <a:tblPr/>
              <a:tblGrid>
                <a:gridCol w="3096768">
                  <a:extLst>
                    <a:ext uri="{9D8B030D-6E8A-4147-A177-3AD203B41FA5}">
                      <a16:colId xmlns:a16="http://schemas.microsoft.com/office/drawing/2014/main" val="20000"/>
                    </a:ext>
                  </a:extLst>
                </a:gridCol>
                <a:gridCol w="2270963">
                  <a:extLst>
                    <a:ext uri="{9D8B030D-6E8A-4147-A177-3AD203B41FA5}">
                      <a16:colId xmlns:a16="http://schemas.microsoft.com/office/drawing/2014/main" val="20001"/>
                    </a:ext>
                  </a:extLst>
                </a:gridCol>
                <a:gridCol w="2477414">
                  <a:extLst>
                    <a:ext uri="{9D8B030D-6E8A-4147-A177-3AD203B41FA5}">
                      <a16:colId xmlns:a16="http://schemas.microsoft.com/office/drawing/2014/main" val="20002"/>
                    </a:ext>
                  </a:extLst>
                </a:gridCol>
                <a:gridCol w="2477414">
                  <a:extLst>
                    <a:ext uri="{9D8B030D-6E8A-4147-A177-3AD203B41FA5}">
                      <a16:colId xmlns:a16="http://schemas.microsoft.com/office/drawing/2014/main" val="20003"/>
                    </a:ext>
                  </a:extLst>
                </a:gridCol>
              </a:tblGrid>
              <a:tr h="356870">
                <a:tc>
                  <a:txBody>
                    <a:bodyPr/>
                    <a:lstStyle/>
                    <a:p>
                      <a:pPr marL="0" indent="0">
                        <a:lnSpc>
                          <a:spcPts val="1820"/>
                        </a:lnSpc>
                        <a:buNone/>
                      </a:pPr>
                      <a:r>
                        <a:rPr lang="en-US" sz="1300" b="1" dirty="0">
                          <a:solidFill>
                            <a:srgbClr val="16263C"/>
                          </a:solidFill>
                          <a:latin typeface="IBM Plex Sans" pitchFamily="34" charset="0"/>
                          <a:ea typeface="IBM Plex Sans" pitchFamily="34" charset="-122"/>
                          <a:cs typeface="IBM Plex Sans" pitchFamily="34" charset="-120"/>
                        </a:rPr>
                        <a:t>Progetto</a:t>
                      </a:r>
                      <a:endParaRPr lang="en-US" sz="1300" dirty="0">
                        <a:latin typeface="IBM Plex Sans" charset="0"/>
                        <a:ea typeface="IBM Plex Sans" charset="0"/>
                        <a:cs typeface="IBM Plex Sans" charset="0"/>
                      </a:endParaRPr>
                    </a:p>
                  </a:txBody>
                  <a:tcPr marL="57785" marR="57785" marT="57785" marB="57785">
                    <a:lnL w="0" cap="flat" cmpd="sng" algn="ctr">
                      <a:noFill/>
                    </a:lnL>
                    <a:lnR w="12700" cap="flat" cmpd="sng" algn="ctr">
                      <a:solidFill>
                        <a:srgbClr val="BFBCB4"/>
                      </a:solidFill>
                      <a:prstDash val="solid"/>
                      <a:round/>
                      <a:headEnd type="none" w="med" len="med"/>
                      <a:tailEnd type="none" w="med" len="med"/>
                    </a:lnR>
                    <a:lnT w="0" cap="flat" cmpd="sng" algn="ctr">
                      <a:noFill/>
                    </a:lnT>
                    <a:lnB w="12700" cap="flat" cmpd="sng" algn="ctr">
                      <a:solidFill>
                        <a:srgbClr val="BFBCB4"/>
                      </a:solidFill>
                      <a:prstDash val="solid"/>
                      <a:round/>
                      <a:headEnd type="none" w="med" len="med"/>
                      <a:tailEnd type="none" w="med" len="med"/>
                    </a:lnB>
                    <a:solidFill>
                      <a:srgbClr val="EFEBE1"/>
                    </a:solidFill>
                  </a:tcPr>
                </a:tc>
                <a:tc>
                  <a:txBody>
                    <a:bodyPr/>
                    <a:lstStyle/>
                    <a:p>
                      <a:pPr marL="0" indent="0">
                        <a:lnSpc>
                          <a:spcPts val="1820"/>
                        </a:lnSpc>
                        <a:buNone/>
                      </a:pPr>
                      <a:r>
                        <a:rPr lang="en-US" sz="1300" b="1" dirty="0">
                          <a:solidFill>
                            <a:srgbClr val="16263C"/>
                          </a:solidFill>
                          <a:latin typeface="IBM Plex Sans" pitchFamily="34" charset="0"/>
                          <a:ea typeface="IBM Plex Sans" pitchFamily="34" charset="-122"/>
                          <a:cs typeface="IBM Plex Sans" pitchFamily="34" charset="-120"/>
                        </a:rPr>
                        <a:t>Ruolo</a:t>
                      </a:r>
                      <a:endParaRPr lang="en-US" sz="1300" dirty="0">
                        <a:latin typeface="IBM Plex Sans" charset="0"/>
                        <a:ea typeface="IBM Plex Sans" charset="0"/>
                        <a:cs typeface="IBM Plex Sans" charset="0"/>
                      </a:endParaRPr>
                    </a:p>
                  </a:txBody>
                  <a:tcPr marL="57785" marR="57785" marT="57785" marB="57785">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0" cap="flat" cmpd="sng" algn="ctr">
                      <a:noFill/>
                    </a:lnT>
                    <a:lnB w="12700" cap="flat" cmpd="sng" algn="ctr">
                      <a:solidFill>
                        <a:srgbClr val="BFBCB4"/>
                      </a:solidFill>
                      <a:prstDash val="solid"/>
                      <a:round/>
                      <a:headEnd type="none" w="med" len="med"/>
                      <a:tailEnd type="none" w="med" len="med"/>
                    </a:lnB>
                    <a:solidFill>
                      <a:srgbClr val="EFEBE1"/>
                    </a:solidFill>
                  </a:tcPr>
                </a:tc>
                <a:tc>
                  <a:txBody>
                    <a:bodyPr/>
                    <a:lstStyle/>
                    <a:p>
                      <a:pPr marL="0" indent="0">
                        <a:lnSpc>
                          <a:spcPts val="1820"/>
                        </a:lnSpc>
                        <a:buNone/>
                      </a:pPr>
                      <a:r>
                        <a:rPr lang="en-US" sz="1300" b="1" dirty="0">
                          <a:solidFill>
                            <a:srgbClr val="16263C"/>
                          </a:solidFill>
                          <a:latin typeface="IBM Plex Sans" pitchFamily="34" charset="0"/>
                          <a:ea typeface="IBM Plex Sans" pitchFamily="34" charset="-122"/>
                          <a:cs typeface="IBM Plex Sans" pitchFamily="34" charset="-120"/>
                        </a:rPr>
                        <a:t>Ente</a:t>
                      </a:r>
                      <a:endParaRPr lang="en-US" sz="1300" dirty="0">
                        <a:latin typeface="IBM Plex Sans" charset="0"/>
                        <a:ea typeface="IBM Plex Sans" charset="0"/>
                        <a:cs typeface="IBM Plex Sans" charset="0"/>
                      </a:endParaRPr>
                    </a:p>
                  </a:txBody>
                  <a:tcPr marL="57785" marR="57785" marT="57785" marB="57785">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0" cap="flat" cmpd="sng" algn="ctr">
                      <a:noFill/>
                    </a:lnT>
                    <a:lnB w="12700" cap="flat" cmpd="sng" algn="ctr">
                      <a:solidFill>
                        <a:srgbClr val="BFBCB4"/>
                      </a:solidFill>
                      <a:prstDash val="solid"/>
                      <a:round/>
                      <a:headEnd type="none" w="med" len="med"/>
                      <a:tailEnd type="none" w="med" len="med"/>
                    </a:lnB>
                    <a:solidFill>
                      <a:srgbClr val="EFEBE1"/>
                    </a:solidFill>
                  </a:tcPr>
                </a:tc>
                <a:tc>
                  <a:txBody>
                    <a:bodyPr/>
                    <a:lstStyle/>
                    <a:p>
                      <a:pPr marL="0" indent="0">
                        <a:lnSpc>
                          <a:spcPts val="1820"/>
                        </a:lnSpc>
                        <a:buNone/>
                      </a:pPr>
                      <a:r>
                        <a:rPr lang="en-US" sz="1300" b="1" dirty="0">
                          <a:solidFill>
                            <a:srgbClr val="16263C"/>
                          </a:solidFill>
                          <a:latin typeface="IBM Plex Sans" pitchFamily="34" charset="0"/>
                          <a:ea typeface="IBM Plex Sans" pitchFamily="34" charset="-122"/>
                          <a:cs typeface="IBM Plex Sans" pitchFamily="34" charset="-120"/>
                        </a:rPr>
                        <a:t>Stato</a:t>
                      </a:r>
                      <a:endParaRPr lang="en-US" sz="1300" dirty="0">
                        <a:latin typeface="IBM Plex Sans" charset="0"/>
                        <a:ea typeface="IBM Plex Sans" charset="0"/>
                        <a:cs typeface="IBM Plex Sans" charset="0"/>
                      </a:endParaRPr>
                    </a:p>
                  </a:txBody>
                  <a:tcPr marL="57785" marR="57785" marT="57785" marB="57785">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0" cap="flat" cmpd="sng" algn="ctr">
                      <a:noFill/>
                    </a:lnT>
                    <a:lnB w="12700" cap="flat" cmpd="sng" algn="ctr">
                      <a:solidFill>
                        <a:srgbClr val="BFBCB4"/>
                      </a:solidFill>
                      <a:prstDash val="solid"/>
                      <a:round/>
                      <a:headEnd type="none" w="med" len="med"/>
                      <a:tailEnd type="none" w="med" len="med"/>
                    </a:lnB>
                    <a:solidFill>
                      <a:srgbClr val="EFEBE1"/>
                    </a:solidFill>
                  </a:tcPr>
                </a:tc>
                <a:extLst>
                  <a:ext uri="{0D108BD9-81ED-4DB2-BD59-A6C34878D82A}">
                    <a16:rowId xmlns:a16="http://schemas.microsoft.com/office/drawing/2014/main" val="10000"/>
                  </a:ext>
                </a:extLst>
              </a:tr>
              <a:tr h="356870">
                <a:tc>
                  <a:txBody>
                    <a:bodyPr/>
                    <a:lstStyle/>
                    <a:p>
                      <a:pPr marL="0" indent="0">
                        <a:lnSpc>
                          <a:spcPts val="1820"/>
                        </a:lnSpc>
                        <a:buNone/>
                      </a:pPr>
                      <a:r>
                        <a:rPr lang="en-US" sz="1300" dirty="0">
                          <a:solidFill>
                            <a:srgbClr val="16263C"/>
                          </a:solidFill>
                          <a:latin typeface="IBM Plex Sans" pitchFamily="34" charset="0"/>
                          <a:ea typeface="IBM Plex Sans" pitchFamily="34" charset="-122"/>
                          <a:cs typeface="IBM Plex Sans" pitchFamily="34" charset="-120"/>
                        </a:rPr>
                        <a:t>ABGEN, antibiotici de novo</a:t>
                      </a:r>
                      <a:endParaRPr lang="en-US" sz="1300" dirty="0">
                        <a:latin typeface="IBM Plex Sans" charset="0"/>
                        <a:ea typeface="IBM Plex Sans" charset="0"/>
                        <a:cs typeface="IBM Plex Sans" charset="0"/>
                      </a:endParaRPr>
                    </a:p>
                  </a:txBody>
                  <a:tcPr marL="57785" marR="57785" marT="57785" marB="57785">
                    <a:lnL w="0" cap="flat" cmpd="sng" algn="ctr">
                      <a:noFill/>
                    </a:lnL>
                    <a:lnR w="12700" cap="flat" cmpd="sng" algn="ctr">
                      <a:solidFill>
                        <a:srgbClr val="C7C6C2"/>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7C6C2"/>
                      </a:solidFill>
                      <a:prstDash val="solid"/>
                      <a:round/>
                      <a:headEnd type="none" w="med" len="med"/>
                      <a:tailEnd type="none" w="med" len="med"/>
                    </a:lnB>
                  </a:tcPr>
                </a:tc>
                <a:tc>
                  <a:txBody>
                    <a:bodyPr/>
                    <a:lstStyle/>
                    <a:p>
                      <a:pPr marL="0" indent="0">
                        <a:lnSpc>
                          <a:spcPts val="1820"/>
                        </a:lnSpc>
                        <a:buNone/>
                      </a:pPr>
                      <a:r>
                        <a:rPr lang="en-US" sz="1300" dirty="0">
                          <a:solidFill>
                            <a:srgbClr val="16263C"/>
                          </a:solidFill>
                          <a:latin typeface="IBM Plex Sans" pitchFamily="34" charset="0"/>
                          <a:ea typeface="IBM Plex Sans" pitchFamily="34" charset="-122"/>
                          <a:cs typeface="IBM Plex Sans" pitchFamily="34" charset="-120"/>
                        </a:rPr>
                        <a:t>Co-PI, unità UNIPD</a:t>
                      </a:r>
                      <a:endParaRPr lang="en-US" sz="1300" dirty="0">
                        <a:latin typeface="IBM Plex Sans" charset="0"/>
                        <a:ea typeface="IBM Plex Sans" charset="0"/>
                        <a:cs typeface="IBM Plex Sans" charset="0"/>
                      </a:endParaRPr>
                    </a:p>
                  </a:txBody>
                  <a:tcPr marL="57785" marR="57785" marT="57785" marB="57785">
                    <a:lnL w="12700" cap="flat" cmpd="sng" algn="ctr">
                      <a:solidFill>
                        <a:srgbClr val="C7C6C2"/>
                      </a:solidFill>
                      <a:prstDash val="solid"/>
                      <a:round/>
                      <a:headEnd type="none" w="med" len="med"/>
                      <a:tailEnd type="none" w="med" len="med"/>
                    </a:lnL>
                    <a:lnR w="12700" cap="flat" cmpd="sng" algn="ctr">
                      <a:solidFill>
                        <a:srgbClr val="C7C6C2"/>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7C6C2"/>
                      </a:solidFill>
                      <a:prstDash val="solid"/>
                      <a:round/>
                      <a:headEnd type="none" w="med" len="med"/>
                      <a:tailEnd type="none" w="med" len="med"/>
                    </a:lnB>
                  </a:tcPr>
                </a:tc>
                <a:tc>
                  <a:txBody>
                    <a:bodyPr/>
                    <a:lstStyle/>
                    <a:p>
                      <a:pPr marL="0" indent="0">
                        <a:lnSpc>
                          <a:spcPts val="1820"/>
                        </a:lnSpc>
                        <a:buNone/>
                      </a:pPr>
                      <a:r>
                        <a:rPr lang="en-US" sz="1300" dirty="0">
                          <a:solidFill>
                            <a:srgbClr val="16263C"/>
                          </a:solidFill>
                          <a:latin typeface="IBM Plex Sans" pitchFamily="34" charset="0"/>
                          <a:ea typeface="IBM Plex Sans" pitchFamily="34" charset="-122"/>
                          <a:cs typeface="IBM Plex Sans" pitchFamily="34" charset="-120"/>
                        </a:rPr>
                        <a:t>ICSC, Centro Nazionale HPC</a:t>
                      </a:r>
                      <a:endParaRPr lang="en-US" sz="1300" dirty="0">
                        <a:latin typeface="IBM Plex Sans" charset="0"/>
                        <a:ea typeface="IBM Plex Sans" charset="0"/>
                        <a:cs typeface="IBM Plex Sans" charset="0"/>
                      </a:endParaRPr>
                    </a:p>
                  </a:txBody>
                  <a:tcPr marL="57785" marR="57785" marT="57785" marB="57785">
                    <a:lnL w="12700" cap="flat" cmpd="sng" algn="ctr">
                      <a:solidFill>
                        <a:srgbClr val="C7C6C2"/>
                      </a:solidFill>
                      <a:prstDash val="solid"/>
                      <a:round/>
                      <a:headEnd type="none" w="med" len="med"/>
                      <a:tailEnd type="none" w="med" len="med"/>
                    </a:lnL>
                    <a:lnR w="12700" cap="flat" cmpd="sng" algn="ctr">
                      <a:solidFill>
                        <a:srgbClr val="C7C6C2"/>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7C6C2"/>
                      </a:solidFill>
                      <a:prstDash val="solid"/>
                      <a:round/>
                      <a:headEnd type="none" w="med" len="med"/>
                      <a:tailEnd type="none" w="med" len="med"/>
                    </a:lnB>
                  </a:tcPr>
                </a:tc>
                <a:tc>
                  <a:txBody>
                    <a:bodyPr/>
                    <a:lstStyle/>
                    <a:p>
                      <a:pPr marL="0" indent="0">
                        <a:lnSpc>
                          <a:spcPts val="1820"/>
                        </a:lnSpc>
                        <a:buNone/>
                      </a:pPr>
                      <a:r>
                        <a:rPr lang="en-US" sz="1300" dirty="0">
                          <a:solidFill>
                            <a:srgbClr val="16263C"/>
                          </a:solidFill>
                          <a:latin typeface="IBM Plex Sans" pitchFamily="34" charset="0"/>
                          <a:ea typeface="IBM Plex Sans" pitchFamily="34" charset="-122"/>
                          <a:cs typeface="IBM Plex Sans" pitchFamily="34" charset="-120"/>
                        </a:rPr>
                        <a:t>No</a:t>
                      </a:r>
                      <a:endParaRPr lang="en-US" sz="1300" dirty="0">
                        <a:latin typeface="IBM Plex Sans" charset="0"/>
                        <a:ea typeface="IBM Plex Sans" charset="0"/>
                        <a:cs typeface="IBM Plex Sans" charset="0"/>
                      </a:endParaRPr>
                    </a:p>
                  </a:txBody>
                  <a:tcPr marL="57785" marR="57785" marT="57785" marB="57785">
                    <a:lnL w="12700" cap="flat" cmpd="sng" algn="ctr">
                      <a:solidFill>
                        <a:srgbClr val="C7C6C2"/>
                      </a:solidFill>
                      <a:prstDash val="solid"/>
                      <a:round/>
                      <a:headEnd type="none" w="med" len="med"/>
                      <a:tailEnd type="none" w="med" len="med"/>
                    </a:lnL>
                    <a:lnR w="12700" cap="flat" cmpd="sng" algn="ctr">
                      <a:solidFill>
                        <a:srgbClr val="C7C6C2"/>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7C6C2"/>
                      </a:solidFill>
                      <a:prstDash val="solid"/>
                      <a:round/>
                      <a:headEnd type="none" w="med" len="med"/>
                      <a:tailEnd type="none" w="med" len="med"/>
                    </a:lnB>
                  </a:tcPr>
                </a:tc>
                <a:extLst>
                  <a:ext uri="{0D108BD9-81ED-4DB2-BD59-A6C34878D82A}">
                    <a16:rowId xmlns:a16="http://schemas.microsoft.com/office/drawing/2014/main" val="10001"/>
                  </a:ext>
                </a:extLst>
              </a:tr>
              <a:tr h="356870">
                <a:tc>
                  <a:txBody>
                    <a:bodyPr/>
                    <a:lstStyle/>
                    <a:p>
                      <a:pPr marL="0" indent="0">
                        <a:lnSpc>
                          <a:spcPts val="1820"/>
                        </a:lnSpc>
                        <a:buNone/>
                      </a:pPr>
                      <a:r>
                        <a:rPr lang="en-US" sz="1300" dirty="0">
                          <a:solidFill>
                            <a:srgbClr val="16263C"/>
                          </a:solidFill>
                          <a:latin typeface="IBM Plex Sans" pitchFamily="34" charset="0"/>
                          <a:ea typeface="IBM Plex Sans" pitchFamily="34" charset="-122"/>
                          <a:cs typeface="IBM Plex Sans" pitchFamily="34" charset="-120"/>
                        </a:rPr>
                        <a:t>HIVgen, nuovi antiretrovirali</a:t>
                      </a:r>
                      <a:endParaRPr lang="en-US" sz="1300" dirty="0">
                        <a:latin typeface="IBM Plex Sans" charset="0"/>
                        <a:ea typeface="IBM Plex Sans" charset="0"/>
                        <a:cs typeface="IBM Plex Sans" charset="0"/>
                      </a:endParaRPr>
                    </a:p>
                  </a:txBody>
                  <a:tcPr marL="57785" marR="57785" marT="57785" marB="57785">
                    <a:lnL w="0" cap="flat" cmpd="sng" algn="ctr">
                      <a:noFill/>
                    </a:lnL>
                    <a:lnR w="12700" cap="flat" cmpd="sng" algn="ctr">
                      <a:solidFill>
                        <a:srgbClr val="C7C6C2"/>
                      </a:solidFill>
                      <a:prstDash val="solid"/>
                      <a:round/>
                      <a:headEnd type="none" w="med" len="med"/>
                      <a:tailEnd type="none" w="med" len="med"/>
                    </a:lnR>
                    <a:lnT w="12700" cap="flat" cmpd="sng" algn="ctr">
                      <a:solidFill>
                        <a:srgbClr val="C7C6C2"/>
                      </a:solidFill>
                      <a:prstDash val="solid"/>
                      <a:round/>
                      <a:headEnd type="none" w="med" len="med"/>
                      <a:tailEnd type="none" w="med" len="med"/>
                    </a:lnT>
                    <a:lnB w="12700" cap="flat" cmpd="sng" algn="ctr">
                      <a:solidFill>
                        <a:srgbClr val="C7C6C2"/>
                      </a:solidFill>
                      <a:prstDash val="solid"/>
                      <a:round/>
                      <a:headEnd type="none" w="med" len="med"/>
                      <a:tailEnd type="none" w="med" len="med"/>
                    </a:lnB>
                  </a:tcPr>
                </a:tc>
                <a:tc>
                  <a:txBody>
                    <a:bodyPr/>
                    <a:lstStyle/>
                    <a:p>
                      <a:pPr marL="0" indent="0">
                        <a:lnSpc>
                          <a:spcPts val="1820"/>
                        </a:lnSpc>
                        <a:buNone/>
                      </a:pPr>
                      <a:r>
                        <a:rPr lang="en-US" sz="1300" dirty="0">
                          <a:solidFill>
                            <a:srgbClr val="16263C"/>
                          </a:solidFill>
                          <a:latin typeface="IBM Plex Sans" pitchFamily="34" charset="0"/>
                          <a:ea typeface="IBM Plex Sans" pitchFamily="34" charset="-122"/>
                          <a:cs typeface="IBM Plex Sans" pitchFamily="34" charset="-120"/>
                        </a:rPr>
                        <a:t>PI, UNIPD capofila</a:t>
                      </a:r>
                      <a:endParaRPr lang="en-US" sz="1300" dirty="0">
                        <a:latin typeface="IBM Plex Sans" charset="0"/>
                        <a:ea typeface="IBM Plex Sans" charset="0"/>
                        <a:cs typeface="IBM Plex Sans" charset="0"/>
                      </a:endParaRPr>
                    </a:p>
                  </a:txBody>
                  <a:tcPr marL="57785" marR="57785" marT="57785" marB="57785">
                    <a:lnL w="12700" cap="flat" cmpd="sng" algn="ctr">
                      <a:solidFill>
                        <a:srgbClr val="C7C6C2"/>
                      </a:solidFill>
                      <a:prstDash val="solid"/>
                      <a:round/>
                      <a:headEnd type="none" w="med" len="med"/>
                      <a:tailEnd type="none" w="med" len="med"/>
                    </a:lnL>
                    <a:lnR w="12700" cap="flat" cmpd="sng" algn="ctr">
                      <a:solidFill>
                        <a:srgbClr val="C7C6C2"/>
                      </a:solidFill>
                      <a:prstDash val="solid"/>
                      <a:round/>
                      <a:headEnd type="none" w="med" len="med"/>
                      <a:tailEnd type="none" w="med" len="med"/>
                    </a:lnR>
                    <a:lnT w="12700" cap="flat" cmpd="sng" algn="ctr">
                      <a:solidFill>
                        <a:srgbClr val="C7C6C2"/>
                      </a:solidFill>
                      <a:prstDash val="solid"/>
                      <a:round/>
                      <a:headEnd type="none" w="med" len="med"/>
                      <a:tailEnd type="none" w="med" len="med"/>
                    </a:lnT>
                    <a:lnB w="12700" cap="flat" cmpd="sng" algn="ctr">
                      <a:solidFill>
                        <a:srgbClr val="C7C6C2"/>
                      </a:solidFill>
                      <a:prstDash val="solid"/>
                      <a:round/>
                      <a:headEnd type="none" w="med" len="med"/>
                      <a:tailEnd type="none" w="med" len="med"/>
                    </a:lnB>
                  </a:tcPr>
                </a:tc>
                <a:tc>
                  <a:txBody>
                    <a:bodyPr/>
                    <a:lstStyle/>
                    <a:p>
                      <a:pPr marL="0" indent="0">
                        <a:lnSpc>
                          <a:spcPts val="1820"/>
                        </a:lnSpc>
                        <a:buNone/>
                      </a:pPr>
                      <a:r>
                        <a:rPr lang="en-US" sz="1300" dirty="0">
                          <a:solidFill>
                            <a:srgbClr val="16263C"/>
                          </a:solidFill>
                          <a:latin typeface="IBM Plex Sans" pitchFamily="34" charset="0"/>
                          <a:ea typeface="IBM Plex Sans" pitchFamily="34" charset="-122"/>
                          <a:cs typeface="IBM Plex Sans" pitchFamily="34" charset="-120"/>
                        </a:rPr>
                        <a:t>ICSC, Centro Nazionale HPC</a:t>
                      </a:r>
                      <a:endParaRPr lang="en-US" sz="1300" dirty="0">
                        <a:latin typeface="IBM Plex Sans" charset="0"/>
                        <a:ea typeface="IBM Plex Sans" charset="0"/>
                        <a:cs typeface="IBM Plex Sans" charset="0"/>
                      </a:endParaRPr>
                    </a:p>
                  </a:txBody>
                  <a:tcPr marL="57785" marR="57785" marT="57785" marB="57785">
                    <a:lnL w="12700" cap="flat" cmpd="sng" algn="ctr">
                      <a:solidFill>
                        <a:srgbClr val="C7C6C2"/>
                      </a:solidFill>
                      <a:prstDash val="solid"/>
                      <a:round/>
                      <a:headEnd type="none" w="med" len="med"/>
                      <a:tailEnd type="none" w="med" len="med"/>
                    </a:lnL>
                    <a:lnR w="12700" cap="flat" cmpd="sng" algn="ctr">
                      <a:solidFill>
                        <a:srgbClr val="C7C6C2"/>
                      </a:solidFill>
                      <a:prstDash val="solid"/>
                      <a:round/>
                      <a:headEnd type="none" w="med" len="med"/>
                      <a:tailEnd type="none" w="med" len="med"/>
                    </a:lnR>
                    <a:lnT w="12700" cap="flat" cmpd="sng" algn="ctr">
                      <a:solidFill>
                        <a:srgbClr val="C7C6C2"/>
                      </a:solidFill>
                      <a:prstDash val="solid"/>
                      <a:round/>
                      <a:headEnd type="none" w="med" len="med"/>
                      <a:tailEnd type="none" w="med" len="med"/>
                    </a:lnT>
                    <a:lnB w="12700" cap="flat" cmpd="sng" algn="ctr">
                      <a:solidFill>
                        <a:srgbClr val="C7C6C2"/>
                      </a:solidFill>
                      <a:prstDash val="solid"/>
                      <a:round/>
                      <a:headEnd type="none" w="med" len="med"/>
                      <a:tailEnd type="none" w="med" len="med"/>
                    </a:lnB>
                  </a:tcPr>
                </a:tc>
                <a:tc>
                  <a:txBody>
                    <a:bodyPr/>
                    <a:lstStyle/>
                    <a:p>
                      <a:pPr marL="0" indent="0">
                        <a:lnSpc>
                          <a:spcPts val="1820"/>
                        </a:lnSpc>
                        <a:buNone/>
                      </a:pPr>
                      <a:r>
                        <a:rPr lang="en-US" sz="1300" dirty="0">
                          <a:latin typeface="IBM Plex Sans" charset="0"/>
                          <a:ea typeface="IBM Plex Sans" charset="0"/>
                          <a:cs typeface="IBM Plex Sans" charset="0"/>
                        </a:rPr>
                        <a:t>No</a:t>
                      </a:r>
                    </a:p>
                  </a:txBody>
                  <a:tcPr marL="57785" marR="57785" marT="57785" marB="57785">
                    <a:lnL w="12700" cap="flat" cmpd="sng" algn="ctr">
                      <a:solidFill>
                        <a:srgbClr val="C7C6C2"/>
                      </a:solidFill>
                      <a:prstDash val="solid"/>
                      <a:round/>
                      <a:headEnd type="none" w="med" len="med"/>
                      <a:tailEnd type="none" w="med" len="med"/>
                    </a:lnL>
                    <a:lnR w="12700" cap="flat" cmpd="sng" algn="ctr">
                      <a:solidFill>
                        <a:srgbClr val="C7C6C2"/>
                      </a:solidFill>
                      <a:prstDash val="solid"/>
                      <a:round/>
                      <a:headEnd type="none" w="med" len="med"/>
                      <a:tailEnd type="none" w="med" len="med"/>
                    </a:lnR>
                    <a:lnT w="12700" cap="flat" cmpd="sng" algn="ctr">
                      <a:solidFill>
                        <a:srgbClr val="C7C6C2"/>
                      </a:solidFill>
                      <a:prstDash val="solid"/>
                      <a:round/>
                      <a:headEnd type="none" w="med" len="med"/>
                      <a:tailEnd type="none" w="med" len="med"/>
                    </a:lnT>
                    <a:lnB w="12700" cap="flat" cmpd="sng" algn="ctr">
                      <a:solidFill>
                        <a:srgbClr val="C7C6C2"/>
                      </a:solidFill>
                      <a:prstDash val="solid"/>
                      <a:round/>
                      <a:headEnd type="none" w="med" len="med"/>
                      <a:tailEnd type="none" w="med" len="med"/>
                    </a:lnB>
                  </a:tcPr>
                </a:tc>
                <a:extLst>
                  <a:ext uri="{0D108BD9-81ED-4DB2-BD59-A6C34878D82A}">
                    <a16:rowId xmlns:a16="http://schemas.microsoft.com/office/drawing/2014/main" val="10002"/>
                  </a:ext>
                </a:extLst>
              </a:tr>
              <a:tr h="356870">
                <a:tc>
                  <a:txBody>
                    <a:bodyPr/>
                    <a:lstStyle/>
                    <a:p>
                      <a:pPr marL="0" indent="0">
                        <a:lnSpc>
                          <a:spcPts val="1820"/>
                        </a:lnSpc>
                        <a:buNone/>
                      </a:pPr>
                      <a:r>
                        <a:rPr lang="en-US" sz="1300" dirty="0">
                          <a:solidFill>
                            <a:srgbClr val="16263C"/>
                          </a:solidFill>
                          <a:latin typeface="IBM Plex Sans" pitchFamily="34" charset="0"/>
                          <a:ea typeface="IBM Plex Sans" pitchFamily="34" charset="-122"/>
                          <a:cs typeface="IBM Plex Sans" pitchFamily="34" charset="-120"/>
                        </a:rPr>
                        <a:t>Melanoma e molecole generative</a:t>
                      </a:r>
                      <a:endParaRPr lang="en-US" sz="1300" dirty="0">
                        <a:latin typeface="IBM Plex Sans" charset="0"/>
                        <a:ea typeface="IBM Plex Sans" charset="0"/>
                        <a:cs typeface="IBM Plex Sans" charset="0"/>
                      </a:endParaRPr>
                    </a:p>
                  </a:txBody>
                  <a:tcPr marL="57785" marR="57785" marT="57785" marB="57785">
                    <a:lnL w="0" cap="flat" cmpd="sng" algn="ctr">
                      <a:noFill/>
                    </a:lnL>
                    <a:lnR w="12700" cap="flat" cmpd="sng" algn="ctr">
                      <a:solidFill>
                        <a:srgbClr val="C7C6C2"/>
                      </a:solidFill>
                      <a:prstDash val="solid"/>
                      <a:round/>
                      <a:headEnd type="none" w="med" len="med"/>
                      <a:tailEnd type="none" w="med" len="med"/>
                    </a:lnR>
                    <a:lnT w="12700" cap="flat" cmpd="sng" algn="ctr">
                      <a:solidFill>
                        <a:srgbClr val="C7C6C2"/>
                      </a:solidFill>
                      <a:prstDash val="solid"/>
                      <a:round/>
                      <a:headEnd type="none" w="med" len="med"/>
                      <a:tailEnd type="none" w="med" len="med"/>
                    </a:lnT>
                    <a:lnB w="12700" cap="flat" cmpd="sng" algn="ctr">
                      <a:solidFill>
                        <a:srgbClr val="C7C6C2"/>
                      </a:solidFill>
                      <a:prstDash val="solid"/>
                      <a:round/>
                      <a:headEnd type="none" w="med" len="med"/>
                      <a:tailEnd type="none" w="med" len="med"/>
                    </a:lnB>
                  </a:tcPr>
                </a:tc>
                <a:tc>
                  <a:txBody>
                    <a:bodyPr/>
                    <a:lstStyle/>
                    <a:p>
                      <a:pPr marL="0" indent="0">
                        <a:lnSpc>
                          <a:spcPts val="1820"/>
                        </a:lnSpc>
                        <a:buNone/>
                      </a:pPr>
                      <a:r>
                        <a:rPr lang="en-US" sz="1300" dirty="0">
                          <a:solidFill>
                            <a:srgbClr val="16263C"/>
                          </a:solidFill>
                          <a:latin typeface="IBM Plex Sans" pitchFamily="34" charset="0"/>
                          <a:ea typeface="IBM Plex Sans" pitchFamily="34" charset="-122"/>
                          <a:cs typeface="IBM Plex Sans" pitchFamily="34" charset="-120"/>
                        </a:rPr>
                        <a:t>PI</a:t>
                      </a:r>
                      <a:endParaRPr lang="en-US" sz="1300" dirty="0">
                        <a:latin typeface="IBM Plex Sans" charset="0"/>
                        <a:ea typeface="IBM Plex Sans" charset="0"/>
                        <a:cs typeface="IBM Plex Sans" charset="0"/>
                      </a:endParaRPr>
                    </a:p>
                  </a:txBody>
                  <a:tcPr marL="57785" marR="57785" marT="57785" marB="57785">
                    <a:lnL w="12700" cap="flat" cmpd="sng" algn="ctr">
                      <a:solidFill>
                        <a:srgbClr val="C7C6C2"/>
                      </a:solidFill>
                      <a:prstDash val="solid"/>
                      <a:round/>
                      <a:headEnd type="none" w="med" len="med"/>
                      <a:tailEnd type="none" w="med" len="med"/>
                    </a:lnL>
                    <a:lnR w="12700" cap="flat" cmpd="sng" algn="ctr">
                      <a:solidFill>
                        <a:srgbClr val="C7C6C2"/>
                      </a:solidFill>
                      <a:prstDash val="solid"/>
                      <a:round/>
                      <a:headEnd type="none" w="med" len="med"/>
                      <a:tailEnd type="none" w="med" len="med"/>
                    </a:lnR>
                    <a:lnT w="12700" cap="flat" cmpd="sng" algn="ctr">
                      <a:solidFill>
                        <a:srgbClr val="C7C6C2"/>
                      </a:solidFill>
                      <a:prstDash val="solid"/>
                      <a:round/>
                      <a:headEnd type="none" w="med" len="med"/>
                      <a:tailEnd type="none" w="med" len="med"/>
                    </a:lnT>
                    <a:lnB w="12700" cap="flat" cmpd="sng" algn="ctr">
                      <a:solidFill>
                        <a:srgbClr val="C7C6C2"/>
                      </a:solidFill>
                      <a:prstDash val="solid"/>
                      <a:round/>
                      <a:headEnd type="none" w="med" len="med"/>
                      <a:tailEnd type="none" w="med" len="med"/>
                    </a:lnB>
                  </a:tcPr>
                </a:tc>
                <a:tc>
                  <a:txBody>
                    <a:bodyPr/>
                    <a:lstStyle/>
                    <a:p>
                      <a:pPr marL="0" indent="0">
                        <a:lnSpc>
                          <a:spcPts val="1820"/>
                        </a:lnSpc>
                        <a:buNone/>
                      </a:pPr>
                      <a:r>
                        <a:rPr lang="en-US" sz="1300" dirty="0">
                          <a:solidFill>
                            <a:srgbClr val="16263C"/>
                          </a:solidFill>
                          <a:latin typeface="IBM Plex Sans" pitchFamily="34" charset="0"/>
                          <a:ea typeface="IBM Plex Sans" pitchFamily="34" charset="-122"/>
                          <a:cs typeface="IBM Plex Sans" pitchFamily="34" charset="-120"/>
                        </a:rPr>
                        <a:t>AIRC</a:t>
                      </a:r>
                      <a:endParaRPr lang="en-US" sz="1300" dirty="0">
                        <a:latin typeface="IBM Plex Sans" charset="0"/>
                        <a:ea typeface="IBM Plex Sans" charset="0"/>
                        <a:cs typeface="IBM Plex Sans" charset="0"/>
                      </a:endParaRPr>
                    </a:p>
                  </a:txBody>
                  <a:tcPr marL="57785" marR="57785" marT="57785" marB="57785">
                    <a:lnL w="12700" cap="flat" cmpd="sng" algn="ctr">
                      <a:solidFill>
                        <a:srgbClr val="C7C6C2"/>
                      </a:solidFill>
                      <a:prstDash val="solid"/>
                      <a:round/>
                      <a:headEnd type="none" w="med" len="med"/>
                      <a:tailEnd type="none" w="med" len="med"/>
                    </a:lnL>
                    <a:lnR w="12700" cap="flat" cmpd="sng" algn="ctr">
                      <a:solidFill>
                        <a:srgbClr val="C7C6C2"/>
                      </a:solidFill>
                      <a:prstDash val="solid"/>
                      <a:round/>
                      <a:headEnd type="none" w="med" len="med"/>
                      <a:tailEnd type="none" w="med" len="med"/>
                    </a:lnR>
                    <a:lnT w="12700" cap="flat" cmpd="sng" algn="ctr">
                      <a:solidFill>
                        <a:srgbClr val="C7C6C2"/>
                      </a:solidFill>
                      <a:prstDash val="solid"/>
                      <a:round/>
                      <a:headEnd type="none" w="med" len="med"/>
                      <a:tailEnd type="none" w="med" len="med"/>
                    </a:lnT>
                    <a:lnB w="12700" cap="flat" cmpd="sng" algn="ctr">
                      <a:solidFill>
                        <a:srgbClr val="C7C6C2"/>
                      </a:solidFill>
                      <a:prstDash val="solid"/>
                      <a:round/>
                      <a:headEnd type="none" w="med" len="med"/>
                      <a:tailEnd type="none" w="med" len="med"/>
                    </a:lnB>
                  </a:tcPr>
                </a:tc>
                <a:tc>
                  <a:txBody>
                    <a:bodyPr/>
                    <a:lstStyle/>
                    <a:p>
                      <a:pPr marL="0" indent="0">
                        <a:lnSpc>
                          <a:spcPts val="1820"/>
                        </a:lnSpc>
                        <a:buNone/>
                      </a:pPr>
                      <a:r>
                        <a:rPr lang="en-US" sz="1300" dirty="0">
                          <a:solidFill>
                            <a:srgbClr val="16263C"/>
                          </a:solidFill>
                          <a:latin typeface="IBM Plex Sans" pitchFamily="34" charset="0"/>
                          <a:ea typeface="IBM Plex Sans" pitchFamily="34" charset="-122"/>
                          <a:cs typeface="IBM Plex Sans" pitchFamily="34" charset="-120"/>
                        </a:rPr>
                        <a:t>In valutazione</a:t>
                      </a:r>
                      <a:endParaRPr lang="en-US" sz="1300" dirty="0">
                        <a:latin typeface="IBM Plex Sans" charset="0"/>
                        <a:ea typeface="IBM Plex Sans" charset="0"/>
                        <a:cs typeface="IBM Plex Sans" charset="0"/>
                      </a:endParaRPr>
                    </a:p>
                  </a:txBody>
                  <a:tcPr marL="57785" marR="57785" marT="57785" marB="57785">
                    <a:lnL w="12700" cap="flat" cmpd="sng" algn="ctr">
                      <a:solidFill>
                        <a:srgbClr val="C7C6C2"/>
                      </a:solidFill>
                      <a:prstDash val="solid"/>
                      <a:round/>
                      <a:headEnd type="none" w="med" len="med"/>
                      <a:tailEnd type="none" w="med" len="med"/>
                    </a:lnL>
                    <a:lnR w="12700" cap="flat" cmpd="sng" algn="ctr">
                      <a:solidFill>
                        <a:srgbClr val="C7C6C2"/>
                      </a:solidFill>
                      <a:prstDash val="solid"/>
                      <a:round/>
                      <a:headEnd type="none" w="med" len="med"/>
                      <a:tailEnd type="none" w="med" len="med"/>
                    </a:lnR>
                    <a:lnT w="12700" cap="flat" cmpd="sng" algn="ctr">
                      <a:solidFill>
                        <a:srgbClr val="C7C6C2"/>
                      </a:solidFill>
                      <a:prstDash val="solid"/>
                      <a:round/>
                      <a:headEnd type="none" w="med" len="med"/>
                      <a:tailEnd type="none" w="med" len="med"/>
                    </a:lnT>
                    <a:lnB w="12700" cap="flat" cmpd="sng" algn="ctr">
                      <a:solidFill>
                        <a:srgbClr val="C7C6C2"/>
                      </a:solidFill>
                      <a:prstDash val="solid"/>
                      <a:round/>
                      <a:headEnd type="none" w="med" len="med"/>
                      <a:tailEnd type="none" w="med" len="med"/>
                    </a:lnB>
                  </a:tcPr>
                </a:tc>
                <a:extLst>
                  <a:ext uri="{0D108BD9-81ED-4DB2-BD59-A6C34878D82A}">
                    <a16:rowId xmlns:a16="http://schemas.microsoft.com/office/drawing/2014/main" val="10003"/>
                  </a:ext>
                </a:extLst>
              </a:tr>
              <a:tr h="356870">
                <a:tc>
                  <a:txBody>
                    <a:bodyPr/>
                    <a:lstStyle/>
                    <a:p>
                      <a:pPr marL="0" indent="0">
                        <a:lnSpc>
                          <a:spcPts val="1820"/>
                        </a:lnSpc>
                        <a:buNone/>
                      </a:pPr>
                      <a:r>
                        <a:rPr lang="en-US" sz="1300" dirty="0">
                          <a:solidFill>
                            <a:srgbClr val="16263C"/>
                          </a:solidFill>
                          <a:latin typeface="IBM Plex Sans" pitchFamily="34" charset="0"/>
                          <a:ea typeface="IBM Plex Sans" pitchFamily="34" charset="-122"/>
                          <a:cs typeface="IBM Plex Sans" pitchFamily="34" charset="-120"/>
                        </a:rPr>
                        <a:t>Progetto PRIN</a:t>
                      </a:r>
                      <a:endParaRPr lang="en-US" sz="1300" dirty="0">
                        <a:latin typeface="IBM Plex Sans" charset="0"/>
                        <a:ea typeface="IBM Plex Sans" charset="0"/>
                        <a:cs typeface="IBM Plex Sans" charset="0"/>
                      </a:endParaRPr>
                    </a:p>
                  </a:txBody>
                  <a:tcPr marL="57785" marR="57785" marT="57785" marB="57785">
                    <a:lnL w="0" cap="flat" cmpd="sng" algn="ctr">
                      <a:noFill/>
                    </a:lnL>
                    <a:lnR w="12700" cap="flat" cmpd="sng" algn="ctr">
                      <a:solidFill>
                        <a:srgbClr val="C7C6C2"/>
                      </a:solidFill>
                      <a:prstDash val="solid"/>
                      <a:round/>
                      <a:headEnd type="none" w="med" len="med"/>
                      <a:tailEnd type="none" w="med" len="med"/>
                    </a:lnR>
                    <a:lnT w="12700" cap="flat" cmpd="sng" algn="ctr">
                      <a:solidFill>
                        <a:srgbClr val="C7C6C2"/>
                      </a:solidFill>
                      <a:prstDash val="solid"/>
                      <a:round/>
                      <a:headEnd type="none" w="med" len="med"/>
                      <a:tailEnd type="none" w="med" len="med"/>
                    </a:lnT>
                    <a:lnB w="12700" cap="flat" cmpd="sng" algn="ctr">
                      <a:solidFill>
                        <a:srgbClr val="C7C6C2"/>
                      </a:solidFill>
                      <a:prstDash val="solid"/>
                      <a:round/>
                      <a:headEnd type="none" w="med" len="med"/>
                      <a:tailEnd type="none" w="med" len="med"/>
                    </a:lnB>
                  </a:tcPr>
                </a:tc>
                <a:tc>
                  <a:txBody>
                    <a:bodyPr/>
                    <a:lstStyle/>
                    <a:p>
                      <a:pPr marL="0" indent="0">
                        <a:lnSpc>
                          <a:spcPts val="1820"/>
                        </a:lnSpc>
                        <a:buNone/>
                      </a:pPr>
                      <a:r>
                        <a:rPr lang="en-US" sz="1300" dirty="0">
                          <a:solidFill>
                            <a:srgbClr val="16263C"/>
                          </a:solidFill>
                          <a:latin typeface="IBM Plex Sans" pitchFamily="34" charset="0"/>
                          <a:ea typeface="IBM Plex Sans" pitchFamily="34" charset="-122"/>
                          <a:cs typeface="IBM Plex Sans" pitchFamily="34" charset="-120"/>
                        </a:rPr>
                        <a:t>PI</a:t>
                      </a:r>
                      <a:endParaRPr lang="en-US" sz="1300" dirty="0">
                        <a:latin typeface="IBM Plex Sans" charset="0"/>
                        <a:ea typeface="IBM Plex Sans" charset="0"/>
                        <a:cs typeface="IBM Plex Sans" charset="0"/>
                      </a:endParaRPr>
                    </a:p>
                  </a:txBody>
                  <a:tcPr marL="57785" marR="57785" marT="57785" marB="57785">
                    <a:lnL w="12700" cap="flat" cmpd="sng" algn="ctr">
                      <a:solidFill>
                        <a:srgbClr val="C7C6C2"/>
                      </a:solidFill>
                      <a:prstDash val="solid"/>
                      <a:round/>
                      <a:headEnd type="none" w="med" len="med"/>
                      <a:tailEnd type="none" w="med" len="med"/>
                    </a:lnL>
                    <a:lnR w="12700" cap="flat" cmpd="sng" algn="ctr">
                      <a:solidFill>
                        <a:srgbClr val="C7C6C2"/>
                      </a:solidFill>
                      <a:prstDash val="solid"/>
                      <a:round/>
                      <a:headEnd type="none" w="med" len="med"/>
                      <a:tailEnd type="none" w="med" len="med"/>
                    </a:lnR>
                    <a:lnT w="12700" cap="flat" cmpd="sng" algn="ctr">
                      <a:solidFill>
                        <a:srgbClr val="C7C6C2"/>
                      </a:solidFill>
                      <a:prstDash val="solid"/>
                      <a:round/>
                      <a:headEnd type="none" w="med" len="med"/>
                      <a:tailEnd type="none" w="med" len="med"/>
                    </a:lnT>
                    <a:lnB w="12700" cap="flat" cmpd="sng" algn="ctr">
                      <a:solidFill>
                        <a:srgbClr val="C7C6C2"/>
                      </a:solidFill>
                      <a:prstDash val="solid"/>
                      <a:round/>
                      <a:headEnd type="none" w="med" len="med"/>
                      <a:tailEnd type="none" w="med" len="med"/>
                    </a:lnB>
                  </a:tcPr>
                </a:tc>
                <a:tc>
                  <a:txBody>
                    <a:bodyPr/>
                    <a:lstStyle/>
                    <a:p>
                      <a:pPr marL="0" indent="0">
                        <a:lnSpc>
                          <a:spcPts val="1820"/>
                        </a:lnSpc>
                        <a:buNone/>
                      </a:pPr>
                      <a:r>
                        <a:rPr lang="en-US" sz="1300" dirty="0">
                          <a:solidFill>
                            <a:srgbClr val="16263C"/>
                          </a:solidFill>
                          <a:latin typeface="IBM Plex Sans" pitchFamily="34" charset="0"/>
                          <a:ea typeface="IBM Plex Sans" pitchFamily="34" charset="-122"/>
                          <a:cs typeface="IBM Plex Sans" pitchFamily="34" charset="-120"/>
                        </a:rPr>
                        <a:t>MUR</a:t>
                      </a:r>
                      <a:endParaRPr lang="en-US" sz="1300" dirty="0">
                        <a:latin typeface="IBM Plex Sans" charset="0"/>
                        <a:ea typeface="IBM Plex Sans" charset="0"/>
                        <a:cs typeface="IBM Plex Sans" charset="0"/>
                      </a:endParaRPr>
                    </a:p>
                  </a:txBody>
                  <a:tcPr marL="57785" marR="57785" marT="57785" marB="57785">
                    <a:lnL w="12700" cap="flat" cmpd="sng" algn="ctr">
                      <a:solidFill>
                        <a:srgbClr val="C7C6C2"/>
                      </a:solidFill>
                      <a:prstDash val="solid"/>
                      <a:round/>
                      <a:headEnd type="none" w="med" len="med"/>
                      <a:tailEnd type="none" w="med" len="med"/>
                    </a:lnL>
                    <a:lnR w="12700" cap="flat" cmpd="sng" algn="ctr">
                      <a:solidFill>
                        <a:srgbClr val="C7C6C2"/>
                      </a:solidFill>
                      <a:prstDash val="solid"/>
                      <a:round/>
                      <a:headEnd type="none" w="med" len="med"/>
                      <a:tailEnd type="none" w="med" len="med"/>
                    </a:lnR>
                    <a:lnT w="12700" cap="flat" cmpd="sng" algn="ctr">
                      <a:solidFill>
                        <a:srgbClr val="C7C6C2"/>
                      </a:solidFill>
                      <a:prstDash val="solid"/>
                      <a:round/>
                      <a:headEnd type="none" w="med" len="med"/>
                      <a:tailEnd type="none" w="med" len="med"/>
                    </a:lnT>
                    <a:lnB w="12700" cap="flat" cmpd="sng" algn="ctr">
                      <a:solidFill>
                        <a:srgbClr val="C7C6C2"/>
                      </a:solidFill>
                      <a:prstDash val="solid"/>
                      <a:round/>
                      <a:headEnd type="none" w="med" len="med"/>
                      <a:tailEnd type="none" w="med" len="med"/>
                    </a:lnB>
                  </a:tcPr>
                </a:tc>
                <a:tc>
                  <a:txBody>
                    <a:bodyPr/>
                    <a:lstStyle/>
                    <a:p>
                      <a:pPr marL="0" indent="0">
                        <a:lnSpc>
                          <a:spcPts val="1820"/>
                        </a:lnSpc>
                        <a:buNone/>
                      </a:pPr>
                      <a:r>
                        <a:rPr lang="en-US" sz="1300" dirty="0">
                          <a:solidFill>
                            <a:srgbClr val="16263C"/>
                          </a:solidFill>
                          <a:latin typeface="IBM Plex Sans" pitchFamily="34" charset="0"/>
                          <a:ea typeface="IBM Plex Sans" pitchFamily="34" charset="-122"/>
                          <a:cs typeface="IBM Plex Sans" pitchFamily="34" charset="-120"/>
                        </a:rPr>
                        <a:t>No</a:t>
                      </a:r>
                      <a:endParaRPr lang="en-US" sz="1300" dirty="0">
                        <a:latin typeface="IBM Plex Sans" charset="0"/>
                        <a:ea typeface="IBM Plex Sans" charset="0"/>
                        <a:cs typeface="IBM Plex Sans" charset="0"/>
                      </a:endParaRPr>
                    </a:p>
                  </a:txBody>
                  <a:tcPr marL="57785" marR="57785" marT="57785" marB="57785">
                    <a:lnL w="12700" cap="flat" cmpd="sng" algn="ctr">
                      <a:solidFill>
                        <a:srgbClr val="C7C6C2"/>
                      </a:solidFill>
                      <a:prstDash val="solid"/>
                      <a:round/>
                      <a:headEnd type="none" w="med" len="med"/>
                      <a:tailEnd type="none" w="med" len="med"/>
                    </a:lnL>
                    <a:lnR w="12700" cap="flat" cmpd="sng" algn="ctr">
                      <a:solidFill>
                        <a:srgbClr val="C7C6C2"/>
                      </a:solidFill>
                      <a:prstDash val="solid"/>
                      <a:round/>
                      <a:headEnd type="none" w="med" len="med"/>
                      <a:tailEnd type="none" w="med" len="med"/>
                    </a:lnR>
                    <a:lnT w="12700" cap="flat" cmpd="sng" algn="ctr">
                      <a:solidFill>
                        <a:srgbClr val="C7C6C2"/>
                      </a:solidFill>
                      <a:prstDash val="solid"/>
                      <a:round/>
                      <a:headEnd type="none" w="med" len="med"/>
                      <a:tailEnd type="none" w="med" len="med"/>
                    </a:lnT>
                    <a:lnB w="12700" cap="flat" cmpd="sng" algn="ctr">
                      <a:solidFill>
                        <a:srgbClr val="C7C6C2"/>
                      </a:solidFill>
                      <a:prstDash val="solid"/>
                      <a:round/>
                      <a:headEnd type="none" w="med" len="med"/>
                      <a:tailEnd type="none" w="med" len="med"/>
                    </a:lnB>
                  </a:tcPr>
                </a:tc>
                <a:extLst>
                  <a:ext uri="{0D108BD9-81ED-4DB2-BD59-A6C34878D82A}">
                    <a16:rowId xmlns:a16="http://schemas.microsoft.com/office/drawing/2014/main" val="10004"/>
                  </a:ext>
                </a:extLst>
              </a:tr>
              <a:tr h="356870">
                <a:tc>
                  <a:txBody>
                    <a:bodyPr/>
                    <a:lstStyle/>
                    <a:p>
                      <a:pPr marL="0" indent="0">
                        <a:lnSpc>
                          <a:spcPts val="1820"/>
                        </a:lnSpc>
                        <a:buNone/>
                      </a:pPr>
                      <a:r>
                        <a:rPr lang="en-US" sz="1300" dirty="0">
                          <a:solidFill>
                            <a:srgbClr val="16263C"/>
                          </a:solidFill>
                          <a:latin typeface="IBM Plex Sans" pitchFamily="34" charset="0"/>
                          <a:ea typeface="IBM Plex Sans" pitchFamily="34" charset="-122"/>
                          <a:cs typeface="IBM Plex Sans" pitchFamily="34" charset="-120"/>
                        </a:rPr>
                        <a:t>Sphere Neural Networks</a:t>
                      </a:r>
                      <a:endParaRPr lang="en-US" sz="1300" dirty="0">
                        <a:latin typeface="IBM Plex Sans" charset="0"/>
                        <a:ea typeface="IBM Plex Sans" charset="0"/>
                        <a:cs typeface="IBM Plex Sans" charset="0"/>
                      </a:endParaRPr>
                    </a:p>
                  </a:txBody>
                  <a:tcPr marL="57785" marR="57785" marT="57785" marB="57785">
                    <a:lnL w="0" cap="flat" cmpd="sng" algn="ctr">
                      <a:noFill/>
                    </a:lnL>
                    <a:lnR w="12700" cap="flat" cmpd="sng" algn="ctr">
                      <a:solidFill>
                        <a:srgbClr val="C7C6C2"/>
                      </a:solidFill>
                      <a:prstDash val="solid"/>
                      <a:round/>
                      <a:headEnd type="none" w="med" len="med"/>
                      <a:tailEnd type="none" w="med" len="med"/>
                    </a:lnR>
                    <a:lnT w="12700" cap="flat" cmpd="sng" algn="ctr">
                      <a:solidFill>
                        <a:srgbClr val="C7C6C2"/>
                      </a:solidFill>
                      <a:prstDash val="solid"/>
                      <a:round/>
                      <a:headEnd type="none" w="med" len="med"/>
                      <a:tailEnd type="none" w="med" len="med"/>
                    </a:lnT>
                    <a:lnB w="12700" cap="flat" cmpd="sng" algn="ctr">
                      <a:solidFill>
                        <a:srgbClr val="C7C6C2"/>
                      </a:solidFill>
                      <a:prstDash val="solid"/>
                      <a:round/>
                      <a:headEnd type="none" w="med" len="med"/>
                      <a:tailEnd type="none" w="med" len="med"/>
                    </a:lnB>
                  </a:tcPr>
                </a:tc>
                <a:tc>
                  <a:txBody>
                    <a:bodyPr/>
                    <a:lstStyle/>
                    <a:p>
                      <a:pPr marL="0" indent="0">
                        <a:lnSpc>
                          <a:spcPts val="1820"/>
                        </a:lnSpc>
                        <a:buNone/>
                      </a:pPr>
                      <a:r>
                        <a:rPr lang="en-US" sz="1300" dirty="0">
                          <a:solidFill>
                            <a:srgbClr val="16263C"/>
                          </a:solidFill>
                          <a:latin typeface="IBM Plex Sans" pitchFamily="34" charset="0"/>
                          <a:ea typeface="IBM Plex Sans" pitchFamily="34" charset="-122"/>
                          <a:cs typeface="IBM Plex Sans" pitchFamily="34" charset="-120"/>
                        </a:rPr>
                        <a:t>Con Prof. P. Liò e Dr. </a:t>
                      </a:r>
                      <a:r>
                        <a:rPr lang="en-US" sz="1300" dirty="0" err="1">
                          <a:solidFill>
                            <a:srgbClr val="16263C"/>
                          </a:solidFill>
                          <a:latin typeface="IBM Plex Sans" pitchFamily="34" charset="0"/>
                          <a:ea typeface="IBM Plex Sans" pitchFamily="34" charset="-122"/>
                          <a:cs typeface="IBM Plex Sans" pitchFamily="34" charset="-120"/>
                        </a:rPr>
                        <a:t>Tiansi</a:t>
                      </a:r>
                      <a:r>
                        <a:rPr lang="en-US" sz="1300" dirty="0">
                          <a:solidFill>
                            <a:srgbClr val="16263C"/>
                          </a:solidFill>
                          <a:latin typeface="IBM Plex Sans" pitchFamily="34" charset="0"/>
                          <a:ea typeface="IBM Plex Sans" pitchFamily="34" charset="-122"/>
                          <a:cs typeface="IBM Plex Sans" pitchFamily="34" charset="-120"/>
                        </a:rPr>
                        <a:t> Dong</a:t>
                      </a:r>
                      <a:endParaRPr lang="en-US" sz="1300" dirty="0">
                        <a:latin typeface="IBM Plex Sans" charset="0"/>
                        <a:ea typeface="IBM Plex Sans" charset="0"/>
                        <a:cs typeface="IBM Plex Sans" charset="0"/>
                      </a:endParaRPr>
                    </a:p>
                  </a:txBody>
                  <a:tcPr marL="57785" marR="57785" marT="57785" marB="57785">
                    <a:lnL w="12700" cap="flat" cmpd="sng" algn="ctr">
                      <a:solidFill>
                        <a:srgbClr val="C7C6C2"/>
                      </a:solidFill>
                      <a:prstDash val="solid"/>
                      <a:round/>
                      <a:headEnd type="none" w="med" len="med"/>
                      <a:tailEnd type="none" w="med" len="med"/>
                    </a:lnL>
                    <a:lnR w="12700" cap="flat" cmpd="sng" algn="ctr">
                      <a:solidFill>
                        <a:srgbClr val="C7C6C2"/>
                      </a:solidFill>
                      <a:prstDash val="solid"/>
                      <a:round/>
                      <a:headEnd type="none" w="med" len="med"/>
                      <a:tailEnd type="none" w="med" len="med"/>
                    </a:lnR>
                    <a:lnT w="12700" cap="flat" cmpd="sng" algn="ctr">
                      <a:solidFill>
                        <a:srgbClr val="C7C6C2"/>
                      </a:solidFill>
                      <a:prstDash val="solid"/>
                      <a:round/>
                      <a:headEnd type="none" w="med" len="med"/>
                      <a:tailEnd type="none" w="med" len="med"/>
                    </a:lnT>
                    <a:lnB w="12700" cap="flat" cmpd="sng" algn="ctr">
                      <a:solidFill>
                        <a:srgbClr val="C7C6C2"/>
                      </a:solidFill>
                      <a:prstDash val="solid"/>
                      <a:round/>
                      <a:headEnd type="none" w="med" len="med"/>
                      <a:tailEnd type="none" w="med" len="med"/>
                    </a:lnB>
                  </a:tcPr>
                </a:tc>
                <a:tc>
                  <a:txBody>
                    <a:bodyPr/>
                    <a:lstStyle/>
                    <a:p>
                      <a:pPr marL="0" indent="0">
                        <a:lnSpc>
                          <a:spcPts val="1820"/>
                        </a:lnSpc>
                        <a:buNone/>
                      </a:pPr>
                      <a:r>
                        <a:rPr lang="en-US" sz="1300" dirty="0">
                          <a:solidFill>
                            <a:srgbClr val="16263C"/>
                          </a:solidFill>
                          <a:latin typeface="IBM Plex Sans" pitchFamily="34" charset="0"/>
                          <a:ea typeface="IBM Plex Sans" pitchFamily="34" charset="-122"/>
                          <a:cs typeface="IBM Plex Sans" pitchFamily="34" charset="-120"/>
                        </a:rPr>
                        <a:t>Cambridge, Turing Institute</a:t>
                      </a:r>
                      <a:endParaRPr lang="en-US" sz="1300" dirty="0">
                        <a:latin typeface="IBM Plex Sans" charset="0"/>
                        <a:ea typeface="IBM Plex Sans" charset="0"/>
                        <a:cs typeface="IBM Plex Sans" charset="0"/>
                      </a:endParaRPr>
                    </a:p>
                  </a:txBody>
                  <a:tcPr marL="57785" marR="57785" marT="57785" marB="57785">
                    <a:lnL w="12700" cap="flat" cmpd="sng" algn="ctr">
                      <a:solidFill>
                        <a:srgbClr val="C7C6C2"/>
                      </a:solidFill>
                      <a:prstDash val="solid"/>
                      <a:round/>
                      <a:headEnd type="none" w="med" len="med"/>
                      <a:tailEnd type="none" w="med" len="med"/>
                    </a:lnL>
                    <a:lnR w="12700" cap="flat" cmpd="sng" algn="ctr">
                      <a:solidFill>
                        <a:srgbClr val="C7C6C2"/>
                      </a:solidFill>
                      <a:prstDash val="solid"/>
                      <a:round/>
                      <a:headEnd type="none" w="med" len="med"/>
                      <a:tailEnd type="none" w="med" len="med"/>
                    </a:lnR>
                    <a:lnT w="12700" cap="flat" cmpd="sng" algn="ctr">
                      <a:solidFill>
                        <a:srgbClr val="C7C6C2"/>
                      </a:solidFill>
                      <a:prstDash val="solid"/>
                      <a:round/>
                      <a:headEnd type="none" w="med" len="med"/>
                      <a:tailEnd type="none" w="med" len="med"/>
                    </a:lnT>
                    <a:lnB w="12700" cap="flat" cmpd="sng" algn="ctr">
                      <a:solidFill>
                        <a:srgbClr val="C7C6C2"/>
                      </a:solidFill>
                      <a:prstDash val="solid"/>
                      <a:round/>
                      <a:headEnd type="none" w="med" len="med"/>
                      <a:tailEnd type="none" w="med" len="med"/>
                    </a:lnB>
                  </a:tcPr>
                </a:tc>
                <a:tc>
                  <a:txBody>
                    <a:bodyPr/>
                    <a:lstStyle/>
                    <a:p>
                      <a:pPr marL="0" indent="0">
                        <a:lnSpc>
                          <a:spcPts val="1820"/>
                        </a:lnSpc>
                        <a:buNone/>
                      </a:pPr>
                      <a:r>
                        <a:rPr lang="en-US" sz="1300" dirty="0">
                          <a:solidFill>
                            <a:srgbClr val="16263C"/>
                          </a:solidFill>
                          <a:latin typeface="IBM Plex Sans" pitchFamily="34" charset="0"/>
                          <a:ea typeface="IBM Plex Sans" pitchFamily="34" charset="-122"/>
                          <a:cs typeface="IBM Plex Sans" pitchFamily="34" charset="-120"/>
                        </a:rPr>
                        <a:t>Da </a:t>
                      </a:r>
                      <a:r>
                        <a:rPr lang="en-US" sz="1300" dirty="0" err="1">
                          <a:solidFill>
                            <a:srgbClr val="16263C"/>
                          </a:solidFill>
                          <a:latin typeface="IBM Plex Sans" pitchFamily="34" charset="0"/>
                          <a:ea typeface="IBM Plex Sans" pitchFamily="34" charset="-122"/>
                          <a:cs typeface="IBM Plex Sans" pitchFamily="34" charset="-120"/>
                        </a:rPr>
                        <a:t>presentare</a:t>
                      </a:r>
                      <a:endParaRPr lang="en-US" sz="1300" dirty="0">
                        <a:latin typeface="IBM Plex Sans" charset="0"/>
                        <a:ea typeface="IBM Plex Sans" charset="0"/>
                        <a:cs typeface="IBM Plex Sans" charset="0"/>
                      </a:endParaRPr>
                    </a:p>
                  </a:txBody>
                  <a:tcPr marL="57785" marR="57785" marT="57785" marB="57785">
                    <a:lnL w="12700" cap="flat" cmpd="sng" algn="ctr">
                      <a:solidFill>
                        <a:srgbClr val="C7C6C2"/>
                      </a:solidFill>
                      <a:prstDash val="solid"/>
                      <a:round/>
                      <a:headEnd type="none" w="med" len="med"/>
                      <a:tailEnd type="none" w="med" len="med"/>
                    </a:lnL>
                    <a:lnR w="12700" cap="flat" cmpd="sng" algn="ctr">
                      <a:solidFill>
                        <a:srgbClr val="C7C6C2"/>
                      </a:solidFill>
                      <a:prstDash val="solid"/>
                      <a:round/>
                      <a:headEnd type="none" w="med" len="med"/>
                      <a:tailEnd type="none" w="med" len="med"/>
                    </a:lnR>
                    <a:lnT w="12700" cap="flat" cmpd="sng" algn="ctr">
                      <a:solidFill>
                        <a:srgbClr val="C7C6C2"/>
                      </a:solidFill>
                      <a:prstDash val="solid"/>
                      <a:round/>
                      <a:headEnd type="none" w="med" len="med"/>
                      <a:tailEnd type="none" w="med" len="med"/>
                    </a:lnT>
                    <a:lnB w="12700" cap="flat" cmpd="sng" algn="ctr">
                      <a:solidFill>
                        <a:srgbClr val="C7C6C2"/>
                      </a:solidFill>
                      <a:prstDash val="solid"/>
                      <a:round/>
                      <a:headEnd type="none" w="med" len="med"/>
                      <a:tailEnd type="none" w="med" len="med"/>
                    </a:lnB>
                  </a:tcPr>
                </a:tc>
                <a:extLst>
                  <a:ext uri="{0D108BD9-81ED-4DB2-BD59-A6C34878D82A}">
                    <a16:rowId xmlns:a16="http://schemas.microsoft.com/office/drawing/2014/main" val="10005"/>
                  </a:ext>
                </a:extLst>
              </a:tr>
              <a:tr h="588010">
                <a:tc>
                  <a:txBody>
                    <a:bodyPr/>
                    <a:lstStyle/>
                    <a:p>
                      <a:pPr marL="0" indent="0">
                        <a:lnSpc>
                          <a:spcPts val="1820"/>
                        </a:lnSpc>
                        <a:buNone/>
                      </a:pPr>
                      <a:r>
                        <a:rPr lang="en-US" sz="1300" dirty="0" err="1">
                          <a:solidFill>
                            <a:srgbClr val="16263C"/>
                          </a:solidFill>
                          <a:latin typeface="IBM Plex Sans" pitchFamily="34" charset="0"/>
                          <a:ea typeface="IBM Plex Sans" pitchFamily="34" charset="-122"/>
                          <a:cs typeface="IBM Plex Sans" pitchFamily="34" charset="-120"/>
                        </a:rPr>
                        <a:t>Probiotici</a:t>
                      </a:r>
                      <a:r>
                        <a:rPr lang="en-US" sz="1300" dirty="0">
                          <a:solidFill>
                            <a:srgbClr val="16263C"/>
                          </a:solidFill>
                          <a:latin typeface="IBM Plex Sans" pitchFamily="34" charset="0"/>
                          <a:ea typeface="IBM Plex Sans" pitchFamily="34" charset="-122"/>
                          <a:cs typeface="IBM Plex Sans" pitchFamily="34" charset="-120"/>
                        </a:rPr>
                        <a:t> e AI</a:t>
                      </a:r>
                      <a:endParaRPr lang="en-US" sz="1300" dirty="0">
                        <a:latin typeface="IBM Plex Sans" charset="0"/>
                        <a:ea typeface="IBM Plex Sans" charset="0"/>
                        <a:cs typeface="IBM Plex Sans" charset="0"/>
                      </a:endParaRPr>
                    </a:p>
                  </a:txBody>
                  <a:tcPr marL="57785" marR="57785" marT="57785" marB="57785">
                    <a:lnL w="0" cap="flat" cmpd="sng" algn="ctr">
                      <a:noFill/>
                    </a:lnL>
                    <a:lnR w="12700" cap="flat" cmpd="sng" algn="ctr">
                      <a:solidFill>
                        <a:srgbClr val="C7C6C2"/>
                      </a:solidFill>
                      <a:prstDash val="solid"/>
                      <a:round/>
                      <a:headEnd type="none" w="med" len="med"/>
                      <a:tailEnd type="none" w="med" len="med"/>
                    </a:lnR>
                    <a:lnT w="12700" cap="flat" cmpd="sng" algn="ctr">
                      <a:solidFill>
                        <a:srgbClr val="C7C6C2"/>
                      </a:solidFill>
                      <a:prstDash val="solid"/>
                      <a:round/>
                      <a:headEnd type="none" w="med" len="med"/>
                      <a:tailEnd type="none" w="med" len="med"/>
                    </a:lnT>
                    <a:lnB w="12700" cap="flat" cmpd="sng" algn="ctr">
                      <a:solidFill>
                        <a:srgbClr val="C7C6C2"/>
                      </a:solidFill>
                      <a:prstDash val="solid"/>
                      <a:round/>
                      <a:headEnd type="none" w="med" len="med"/>
                      <a:tailEnd type="none" w="med" len="med"/>
                    </a:lnB>
                  </a:tcPr>
                </a:tc>
                <a:tc>
                  <a:txBody>
                    <a:bodyPr/>
                    <a:lstStyle/>
                    <a:p>
                      <a:pPr marL="0" indent="0">
                        <a:lnSpc>
                          <a:spcPts val="1820"/>
                        </a:lnSpc>
                        <a:buNone/>
                      </a:pPr>
                      <a:r>
                        <a:rPr lang="en-US" sz="1300" dirty="0">
                          <a:solidFill>
                            <a:srgbClr val="16263C"/>
                          </a:solidFill>
                          <a:latin typeface="IBM Plex Sans" pitchFamily="34" charset="0"/>
                          <a:ea typeface="IBM Plex Sans" pitchFamily="34" charset="-122"/>
                          <a:cs typeface="IBM Plex Sans" pitchFamily="34" charset="-120"/>
                        </a:rPr>
                        <a:t>Con il partner milanese del CNR</a:t>
                      </a:r>
                      <a:endParaRPr lang="en-US" sz="1300" dirty="0">
                        <a:latin typeface="IBM Plex Sans" charset="0"/>
                        <a:ea typeface="IBM Plex Sans" charset="0"/>
                        <a:cs typeface="IBM Plex Sans" charset="0"/>
                      </a:endParaRPr>
                    </a:p>
                  </a:txBody>
                  <a:tcPr marL="57785" marR="57785" marT="57785" marB="57785">
                    <a:lnL w="12700" cap="flat" cmpd="sng" algn="ctr">
                      <a:solidFill>
                        <a:srgbClr val="C7C6C2"/>
                      </a:solidFill>
                      <a:prstDash val="solid"/>
                      <a:round/>
                      <a:headEnd type="none" w="med" len="med"/>
                      <a:tailEnd type="none" w="med" len="med"/>
                    </a:lnL>
                    <a:lnR w="12700" cap="flat" cmpd="sng" algn="ctr">
                      <a:solidFill>
                        <a:srgbClr val="C7C6C2"/>
                      </a:solidFill>
                      <a:prstDash val="solid"/>
                      <a:round/>
                      <a:headEnd type="none" w="med" len="med"/>
                      <a:tailEnd type="none" w="med" len="med"/>
                    </a:lnR>
                    <a:lnT w="12700" cap="flat" cmpd="sng" algn="ctr">
                      <a:solidFill>
                        <a:srgbClr val="C7C6C2"/>
                      </a:solidFill>
                      <a:prstDash val="solid"/>
                      <a:round/>
                      <a:headEnd type="none" w="med" len="med"/>
                      <a:tailEnd type="none" w="med" len="med"/>
                    </a:lnT>
                    <a:lnB w="12700" cap="flat" cmpd="sng" algn="ctr">
                      <a:solidFill>
                        <a:srgbClr val="C7C6C2"/>
                      </a:solidFill>
                      <a:prstDash val="solid"/>
                      <a:round/>
                      <a:headEnd type="none" w="med" len="med"/>
                      <a:tailEnd type="none" w="med" len="med"/>
                    </a:lnB>
                  </a:tcPr>
                </a:tc>
                <a:tc>
                  <a:txBody>
                    <a:bodyPr/>
                    <a:lstStyle/>
                    <a:p>
                      <a:pPr marL="0" indent="0">
                        <a:lnSpc>
                          <a:spcPts val="1820"/>
                        </a:lnSpc>
                        <a:buNone/>
                      </a:pPr>
                      <a:r>
                        <a:rPr lang="en-US" sz="1300" dirty="0">
                          <a:solidFill>
                            <a:srgbClr val="16263C"/>
                          </a:solidFill>
                          <a:latin typeface="IBM Plex Sans" pitchFamily="34" charset="0"/>
                          <a:ea typeface="IBM Plex Sans" pitchFamily="34" charset="-122"/>
                          <a:cs typeface="IBM Plex Sans" pitchFamily="34" charset="-120"/>
                        </a:rPr>
                        <a:t>Roche</a:t>
                      </a:r>
                      <a:endParaRPr lang="en-US" sz="1300" dirty="0">
                        <a:latin typeface="IBM Plex Sans" charset="0"/>
                        <a:ea typeface="IBM Plex Sans" charset="0"/>
                        <a:cs typeface="IBM Plex Sans" charset="0"/>
                      </a:endParaRPr>
                    </a:p>
                  </a:txBody>
                  <a:tcPr marL="57785" marR="57785" marT="57785" marB="57785">
                    <a:lnL w="12700" cap="flat" cmpd="sng" algn="ctr">
                      <a:solidFill>
                        <a:srgbClr val="C7C6C2"/>
                      </a:solidFill>
                      <a:prstDash val="solid"/>
                      <a:round/>
                      <a:headEnd type="none" w="med" len="med"/>
                      <a:tailEnd type="none" w="med" len="med"/>
                    </a:lnL>
                    <a:lnR w="12700" cap="flat" cmpd="sng" algn="ctr">
                      <a:solidFill>
                        <a:srgbClr val="C7C6C2"/>
                      </a:solidFill>
                      <a:prstDash val="solid"/>
                      <a:round/>
                      <a:headEnd type="none" w="med" len="med"/>
                      <a:tailEnd type="none" w="med" len="med"/>
                    </a:lnR>
                    <a:lnT w="12700" cap="flat" cmpd="sng" algn="ctr">
                      <a:solidFill>
                        <a:srgbClr val="C7C6C2"/>
                      </a:solidFill>
                      <a:prstDash val="solid"/>
                      <a:round/>
                      <a:headEnd type="none" w="med" len="med"/>
                      <a:tailEnd type="none" w="med" len="med"/>
                    </a:lnT>
                    <a:lnB w="12700" cap="flat" cmpd="sng" algn="ctr">
                      <a:solidFill>
                        <a:srgbClr val="C7C6C2"/>
                      </a:solidFill>
                      <a:prstDash val="solid"/>
                      <a:round/>
                      <a:headEnd type="none" w="med" len="med"/>
                      <a:tailEnd type="none" w="med" len="med"/>
                    </a:lnB>
                  </a:tcPr>
                </a:tc>
                <a:tc>
                  <a:txBody>
                    <a:bodyPr/>
                    <a:lstStyle/>
                    <a:p>
                      <a:pPr marL="0" indent="0">
                        <a:lnSpc>
                          <a:spcPts val="1820"/>
                        </a:lnSpc>
                        <a:buNone/>
                      </a:pPr>
                      <a:r>
                        <a:rPr lang="en-US" sz="1300" dirty="0">
                          <a:solidFill>
                            <a:srgbClr val="16263C"/>
                          </a:solidFill>
                          <a:latin typeface="IBM Plex Sans" pitchFamily="34" charset="0"/>
                          <a:ea typeface="IBM Plex Sans" pitchFamily="34" charset="-122"/>
                          <a:cs typeface="IBM Plex Sans" pitchFamily="34" charset="-120"/>
                        </a:rPr>
                        <a:t>Da </a:t>
                      </a:r>
                      <a:r>
                        <a:rPr lang="en-US" sz="1300" dirty="0" err="1">
                          <a:solidFill>
                            <a:srgbClr val="16263C"/>
                          </a:solidFill>
                          <a:latin typeface="IBM Plex Sans" pitchFamily="34" charset="0"/>
                          <a:ea typeface="IBM Plex Sans" pitchFamily="34" charset="-122"/>
                          <a:cs typeface="IBM Plex Sans" pitchFamily="34" charset="-120"/>
                        </a:rPr>
                        <a:t>presentare</a:t>
                      </a:r>
                      <a:endParaRPr lang="en-US" sz="1300" dirty="0">
                        <a:latin typeface="IBM Plex Sans" charset="0"/>
                        <a:ea typeface="IBM Plex Sans" charset="0"/>
                        <a:cs typeface="IBM Plex Sans" charset="0"/>
                      </a:endParaRPr>
                    </a:p>
                  </a:txBody>
                  <a:tcPr marL="57785" marR="57785" marT="57785" marB="57785">
                    <a:lnL w="12700" cap="flat" cmpd="sng" algn="ctr">
                      <a:solidFill>
                        <a:srgbClr val="C7C6C2"/>
                      </a:solidFill>
                      <a:prstDash val="solid"/>
                      <a:round/>
                      <a:headEnd type="none" w="med" len="med"/>
                      <a:tailEnd type="none" w="med" len="med"/>
                    </a:lnL>
                    <a:lnR w="12700" cap="flat" cmpd="sng" algn="ctr">
                      <a:solidFill>
                        <a:srgbClr val="C7C6C2"/>
                      </a:solidFill>
                      <a:prstDash val="solid"/>
                      <a:round/>
                      <a:headEnd type="none" w="med" len="med"/>
                      <a:tailEnd type="none" w="med" len="med"/>
                    </a:lnR>
                    <a:lnT w="12700" cap="flat" cmpd="sng" algn="ctr">
                      <a:solidFill>
                        <a:srgbClr val="C7C6C2"/>
                      </a:solidFill>
                      <a:prstDash val="solid"/>
                      <a:round/>
                      <a:headEnd type="none" w="med" len="med"/>
                      <a:tailEnd type="none" w="med" len="med"/>
                    </a:lnT>
                    <a:lnB w="12700" cap="flat" cmpd="sng" algn="ctr">
                      <a:solidFill>
                        <a:srgbClr val="C7C6C2"/>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9" name="Text 6"/>
          <p:cNvSpPr/>
          <p:nvPr/>
        </p:nvSpPr>
        <p:spPr>
          <a:xfrm>
            <a:off x="812800" y="6220461"/>
            <a:ext cx="10883392" cy="256540"/>
          </a:xfrm>
          <a:prstGeom prst="rect">
            <a:avLst/>
          </a:prstGeom>
          <a:noFill/>
          <a:ln/>
        </p:spPr>
        <p:txBody>
          <a:bodyPr wrap="square" lIns="0" tIns="0" rIns="0" bIns="0" rtlCol="0" anchor="t">
            <a:normAutofit/>
          </a:bodyPr>
          <a:lstStyle/>
          <a:p>
            <a:pPr marL="0" indent="0" algn="l">
              <a:lnSpc>
                <a:spcPts val="1820"/>
              </a:lnSpc>
              <a:buNone/>
            </a:pP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8F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200" dirty="0">
                <a:solidFill>
                  <a:srgbClr val="2E6F63"/>
                </a:solidFill>
                <a:latin typeface="IBM Plex Sans" pitchFamily="34" charset="0"/>
                <a:ea typeface="IBM Plex Sans" pitchFamily="34" charset="-122"/>
                <a:cs typeface="IBM Plex Sans" pitchFamily="34" charset="-120"/>
              </a:rPr>
              <a:t>ORGANIZZAZIONE SCIENTIFICA · GMTD 2026</a:t>
            </a:r>
            <a:endParaRPr lang="en-US" sz="1300" dirty="0"/>
          </a:p>
        </p:txBody>
      </p:sp>
      <p:sp>
        <p:nvSpPr>
          <p:cNvPr id="3" name="Text 1"/>
          <p:cNvSpPr>
            <a:spLocks noGrp="1"/>
          </p:cNvSpPr>
          <p:nvPr>
            <p:ph type="title"/>
          </p:nvPr>
        </p:nvSpPr>
        <p:spPr>
          <a:xfrm>
            <a:off x="812800" y="1170939"/>
            <a:ext cx="10883392" cy="521970"/>
          </a:xfrm>
          <a:prstGeom prst="rect">
            <a:avLst/>
          </a:prstGeom>
          <a:noFill/>
          <a:ln/>
        </p:spPr>
        <p:txBody>
          <a:bodyPr wrap="square" lIns="0" tIns="0" rIns="0" bIns="0" rtlCol="0" anchor="t">
            <a:normAutofit/>
          </a:bodyPr>
          <a:lstStyle/>
          <a:p>
            <a:pPr marL="0" indent="0" algn="l">
              <a:lnSpc>
                <a:spcPts val="3910"/>
              </a:lnSpc>
              <a:buNone/>
            </a:pPr>
            <a:r>
              <a:rPr lang="en-US" sz="3400" b="1" i="0" dirty="0">
                <a:solidFill>
                  <a:srgbClr val="16263C"/>
                </a:solidFill>
                <a:latin typeface="Source Serif 4" pitchFamily="18" charset="0"/>
                <a:ea typeface="Source Serif 4" pitchFamily="18" charset="-122"/>
                <a:cs typeface="Source Serif 4" pitchFamily="18" charset="-120"/>
              </a:rPr>
              <a:t>Generative Models for Therapeutic Discovery</a:t>
            </a:r>
            <a:endParaRPr lang="en-US" sz="3400" dirty="0"/>
          </a:p>
        </p:txBody>
      </p:sp>
      <p:sp>
        <p:nvSpPr>
          <p:cNvPr id="4" name="Text 2"/>
          <p:cNvSpPr/>
          <p:nvPr/>
        </p:nvSpPr>
        <p:spPr>
          <a:xfrm>
            <a:off x="812800" y="1794511"/>
            <a:ext cx="10203180" cy="577850"/>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4A5568"/>
                </a:solidFill>
                <a:latin typeface="IBM Plex Sans" pitchFamily="34" charset="0"/>
                <a:ea typeface="IBM Plex Sans" pitchFamily="34" charset="-122"/>
                <a:cs typeface="IBM Plex Sans" pitchFamily="34" charset="-120"/>
              </a:rPr>
              <a:t>Workshop internazionale su modelli generativi applicati alla scoperta di nuovi farmaci, con la </a:t>
            </a:r>
            <a:r>
              <a:rPr lang="en-US" sz="1500" dirty="0" err="1">
                <a:solidFill>
                  <a:srgbClr val="4A5568"/>
                </a:solidFill>
                <a:latin typeface="IBM Plex Sans" pitchFamily="34" charset="0"/>
                <a:ea typeface="IBM Plex Sans" pitchFamily="34" charset="-122"/>
                <a:cs typeface="IBM Plex Sans" pitchFamily="34" charset="-120"/>
              </a:rPr>
              <a:t>collaborazione</a:t>
            </a:r>
            <a:r>
              <a:rPr lang="en-US" sz="1500" dirty="0">
                <a:solidFill>
                  <a:srgbClr val="4A5568"/>
                </a:solidFill>
                <a:latin typeface="IBM Plex Sans" pitchFamily="34" charset="0"/>
                <a:ea typeface="IBM Plex Sans" pitchFamily="34" charset="-122"/>
                <a:cs typeface="IBM Plex Sans" pitchFamily="34" charset="-120"/>
              </a:rPr>
              <a:t> del Prof. P. Liò (Università di </a:t>
            </a:r>
            <a:r>
              <a:rPr lang="en-US" sz="1500" dirty="0" err="1">
                <a:solidFill>
                  <a:srgbClr val="4A5568"/>
                </a:solidFill>
                <a:latin typeface="IBM Plex Sans" pitchFamily="34" charset="0"/>
                <a:ea typeface="IBM Plex Sans" pitchFamily="34" charset="-122"/>
                <a:cs typeface="IBM Plex Sans" pitchFamily="34" charset="-120"/>
              </a:rPr>
              <a:t>Cambrdige</a:t>
            </a:r>
            <a:r>
              <a:rPr lang="en-US" sz="1500" dirty="0">
                <a:solidFill>
                  <a:srgbClr val="4A5568"/>
                </a:solidFill>
                <a:latin typeface="IBM Plex Sans" pitchFamily="34" charset="0"/>
                <a:ea typeface="IBM Plex Sans" pitchFamily="34" charset="-122"/>
                <a:cs typeface="IBM Plex Sans" pitchFamily="34" charset="-120"/>
              </a:rPr>
              <a:t>)</a:t>
            </a:r>
            <a:endParaRPr lang="en-US" sz="1500" dirty="0"/>
          </a:p>
        </p:txBody>
      </p:sp>
      <p:sp>
        <p:nvSpPr>
          <p:cNvPr id="5" name="Shape 3"/>
          <p:cNvSpPr/>
          <p:nvPr/>
        </p:nvSpPr>
        <p:spPr>
          <a:xfrm>
            <a:off x="815975" y="2689225"/>
            <a:ext cx="2501900" cy="1784350"/>
          </a:xfrm>
          <a:prstGeom prst="roundRect">
            <a:avLst>
              <a:gd name="adj" fmla="val 5516"/>
            </a:avLst>
          </a:prstGeom>
          <a:solidFill>
            <a:srgbClr val="FFFFFF"/>
          </a:solidFill>
          <a:ln w="6350">
            <a:solidFill>
              <a:srgbClr val="E3DED1"/>
            </a:solidFill>
            <a:prstDash val="solid"/>
          </a:ln>
        </p:spPr>
      </p:sp>
      <p:sp>
        <p:nvSpPr>
          <p:cNvPr id="6" name="Text 4"/>
          <p:cNvSpPr/>
          <p:nvPr/>
        </p:nvSpPr>
        <p:spPr>
          <a:xfrm>
            <a:off x="1046480" y="2919732"/>
            <a:ext cx="2102117" cy="25654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2E6F63"/>
                </a:solidFill>
                <a:latin typeface="IBM Plex Sans" pitchFamily="34" charset="0"/>
                <a:ea typeface="IBM Plex Sans" pitchFamily="34" charset="-122"/>
                <a:cs typeface="IBM Plex Sans" pitchFamily="34" charset="-120"/>
              </a:rPr>
              <a:t>Sede</a:t>
            </a:r>
            <a:endParaRPr lang="en-US" sz="1400" dirty="0"/>
          </a:p>
        </p:txBody>
      </p:sp>
      <p:sp>
        <p:nvSpPr>
          <p:cNvPr id="7" name="Text 5"/>
          <p:cNvSpPr/>
          <p:nvPr/>
        </p:nvSpPr>
        <p:spPr>
          <a:xfrm>
            <a:off x="1046480" y="3214371"/>
            <a:ext cx="2102117" cy="539750"/>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16263C"/>
                </a:solidFill>
                <a:latin typeface="IBM Plex Sans" pitchFamily="34" charset="0"/>
                <a:ea typeface="IBM Plex Sans" pitchFamily="34" charset="-122"/>
                <a:cs typeface="IBM Plex Sans" pitchFamily="34" charset="-120"/>
              </a:rPr>
              <a:t>Computer Laboratory, University of Cambridge</a:t>
            </a:r>
            <a:endParaRPr lang="en-US" sz="1500" dirty="0"/>
          </a:p>
        </p:txBody>
      </p:sp>
      <p:sp>
        <p:nvSpPr>
          <p:cNvPr id="8" name="Shape 6"/>
          <p:cNvSpPr/>
          <p:nvPr/>
        </p:nvSpPr>
        <p:spPr>
          <a:xfrm>
            <a:off x="3502025" y="2689225"/>
            <a:ext cx="2501900" cy="1784350"/>
          </a:xfrm>
          <a:prstGeom prst="roundRect">
            <a:avLst>
              <a:gd name="adj" fmla="val 5516"/>
            </a:avLst>
          </a:prstGeom>
          <a:solidFill>
            <a:srgbClr val="FFFFFF"/>
          </a:solidFill>
          <a:ln w="6350">
            <a:solidFill>
              <a:srgbClr val="E3DED1"/>
            </a:solidFill>
            <a:prstDash val="solid"/>
          </a:ln>
        </p:spPr>
      </p:sp>
      <p:sp>
        <p:nvSpPr>
          <p:cNvPr id="9" name="Text 7"/>
          <p:cNvSpPr/>
          <p:nvPr/>
        </p:nvSpPr>
        <p:spPr>
          <a:xfrm>
            <a:off x="3732530" y="2919732"/>
            <a:ext cx="2102117" cy="25654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2E6F63"/>
                </a:solidFill>
                <a:latin typeface="IBM Plex Sans" pitchFamily="34" charset="0"/>
                <a:ea typeface="IBM Plex Sans" pitchFamily="34" charset="-122"/>
                <a:cs typeface="IBM Plex Sans" pitchFamily="34" charset="-120"/>
              </a:rPr>
              <a:t>Date</a:t>
            </a:r>
            <a:endParaRPr lang="en-US" sz="1400" dirty="0"/>
          </a:p>
        </p:txBody>
      </p:sp>
      <p:sp>
        <p:nvSpPr>
          <p:cNvPr id="10" name="Text 8"/>
          <p:cNvSpPr/>
          <p:nvPr/>
        </p:nvSpPr>
        <p:spPr>
          <a:xfrm>
            <a:off x="3732530" y="3214371"/>
            <a:ext cx="2102117" cy="539750"/>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16263C"/>
                </a:solidFill>
                <a:latin typeface="IBM Plex Sans" pitchFamily="34" charset="0"/>
                <a:ea typeface="IBM Plex Sans" pitchFamily="34" charset="-122"/>
                <a:cs typeface="IBM Plex Sans" pitchFamily="34" charset="-120"/>
              </a:rPr>
              <a:t>29 e 30 settembre 2026</a:t>
            </a:r>
            <a:endParaRPr lang="en-US" sz="1500" dirty="0"/>
          </a:p>
        </p:txBody>
      </p:sp>
      <p:sp>
        <p:nvSpPr>
          <p:cNvPr id="11" name="Shape 9"/>
          <p:cNvSpPr/>
          <p:nvPr/>
        </p:nvSpPr>
        <p:spPr>
          <a:xfrm>
            <a:off x="6188075" y="2689225"/>
            <a:ext cx="2501900" cy="1784350"/>
          </a:xfrm>
          <a:prstGeom prst="roundRect">
            <a:avLst>
              <a:gd name="adj" fmla="val 5516"/>
            </a:avLst>
          </a:prstGeom>
          <a:solidFill>
            <a:srgbClr val="FFFFFF"/>
          </a:solidFill>
          <a:ln w="6350">
            <a:solidFill>
              <a:srgbClr val="E3DED1"/>
            </a:solidFill>
            <a:prstDash val="solid"/>
          </a:ln>
        </p:spPr>
      </p:sp>
      <p:sp>
        <p:nvSpPr>
          <p:cNvPr id="12" name="Text 10"/>
          <p:cNvSpPr/>
          <p:nvPr/>
        </p:nvSpPr>
        <p:spPr>
          <a:xfrm>
            <a:off x="6418580" y="2919732"/>
            <a:ext cx="2102117" cy="25654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2E6F63"/>
                </a:solidFill>
                <a:latin typeface="IBM Plex Sans" pitchFamily="34" charset="0"/>
                <a:ea typeface="IBM Plex Sans" pitchFamily="34" charset="-122"/>
                <a:cs typeface="IBM Plex Sans" pitchFamily="34" charset="-120"/>
              </a:rPr>
              <a:t>Programma</a:t>
            </a:r>
            <a:endParaRPr lang="en-US" sz="1400" dirty="0"/>
          </a:p>
        </p:txBody>
      </p:sp>
      <p:sp>
        <p:nvSpPr>
          <p:cNvPr id="13" name="Text 11"/>
          <p:cNvSpPr/>
          <p:nvPr/>
        </p:nvSpPr>
        <p:spPr>
          <a:xfrm>
            <a:off x="6418580" y="3214371"/>
            <a:ext cx="2102117" cy="539750"/>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16263C"/>
                </a:solidFill>
                <a:latin typeface="IBM Plex Sans" pitchFamily="34" charset="0"/>
                <a:ea typeface="IBM Plex Sans" pitchFamily="34" charset="-122"/>
                <a:cs typeface="IBM Plex Sans" pitchFamily="34" charset="-120"/>
              </a:rPr>
              <a:t>Oltre venti interventi su due giornate</a:t>
            </a:r>
            <a:endParaRPr lang="en-US" sz="1500" dirty="0"/>
          </a:p>
        </p:txBody>
      </p:sp>
      <p:sp>
        <p:nvSpPr>
          <p:cNvPr id="14" name="Shape 12"/>
          <p:cNvSpPr/>
          <p:nvPr/>
        </p:nvSpPr>
        <p:spPr>
          <a:xfrm>
            <a:off x="8874125" y="2689225"/>
            <a:ext cx="2501900" cy="1784350"/>
          </a:xfrm>
          <a:prstGeom prst="roundRect">
            <a:avLst>
              <a:gd name="adj" fmla="val 5516"/>
            </a:avLst>
          </a:prstGeom>
          <a:solidFill>
            <a:srgbClr val="FFFFFF"/>
          </a:solidFill>
          <a:ln w="6350">
            <a:solidFill>
              <a:srgbClr val="E3DED1"/>
            </a:solidFill>
            <a:prstDash val="solid"/>
          </a:ln>
        </p:spPr>
      </p:sp>
      <p:sp>
        <p:nvSpPr>
          <p:cNvPr id="15" name="Text 13"/>
          <p:cNvSpPr/>
          <p:nvPr/>
        </p:nvSpPr>
        <p:spPr>
          <a:xfrm>
            <a:off x="9104630" y="2919732"/>
            <a:ext cx="2102117" cy="25654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2E6F63"/>
                </a:solidFill>
                <a:latin typeface="IBM Plex Sans" pitchFamily="34" charset="0"/>
                <a:ea typeface="IBM Plex Sans" pitchFamily="34" charset="-122"/>
                <a:cs typeface="IBM Plex Sans" pitchFamily="34" charset="-120"/>
              </a:rPr>
              <a:t>Provenienze</a:t>
            </a:r>
            <a:endParaRPr lang="en-US" sz="1400" dirty="0"/>
          </a:p>
        </p:txBody>
      </p:sp>
      <p:sp>
        <p:nvSpPr>
          <p:cNvPr id="16" name="Text 14"/>
          <p:cNvSpPr/>
          <p:nvPr/>
        </p:nvSpPr>
        <p:spPr>
          <a:xfrm>
            <a:off x="9104630" y="3214371"/>
            <a:ext cx="2102117" cy="1054100"/>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16263C"/>
                </a:solidFill>
                <a:latin typeface="IBM Plex Sans" pitchFamily="34" charset="0"/>
                <a:ea typeface="IBM Plex Sans" pitchFamily="34" charset="-122"/>
                <a:cs typeface="IBM Plex Sans" pitchFamily="34" charset="-120"/>
              </a:rPr>
              <a:t>Cambridge, Alan Turing Institute, CNR, Sapienza, </a:t>
            </a:r>
            <a:r>
              <a:rPr lang="en-US" sz="1500" dirty="0" err="1">
                <a:solidFill>
                  <a:srgbClr val="16263C"/>
                </a:solidFill>
                <a:latin typeface="IBM Plex Sans" pitchFamily="34" charset="0"/>
                <a:ea typeface="IBM Plex Sans" pitchFamily="34" charset="-122"/>
                <a:cs typeface="IBM Plex Sans" pitchFamily="34" charset="-120"/>
              </a:rPr>
              <a:t>Astrazeneca</a:t>
            </a:r>
            <a:r>
              <a:rPr lang="en-US" sz="1500" dirty="0">
                <a:solidFill>
                  <a:srgbClr val="16263C"/>
                </a:solidFill>
                <a:latin typeface="IBM Plex Sans" pitchFamily="34" charset="0"/>
                <a:ea typeface="IBM Plex Sans" pitchFamily="34" charset="-122"/>
                <a:cs typeface="IBM Plex Sans" pitchFamily="34" charset="-120"/>
              </a:rPr>
              <a:t>, Boltz, </a:t>
            </a:r>
            <a:r>
              <a:rPr lang="en-US" sz="1500" dirty="0" err="1">
                <a:solidFill>
                  <a:srgbClr val="16263C"/>
                </a:solidFill>
                <a:latin typeface="IBM Plex Sans" pitchFamily="34" charset="0"/>
                <a:ea typeface="IBM Plex Sans" pitchFamily="34" charset="-122"/>
                <a:cs typeface="IBM Plex Sans" pitchFamily="34" charset="-120"/>
              </a:rPr>
              <a:t>Neulab</a:t>
            </a:r>
            <a:endParaRPr lang="en-US" sz="1500" dirty="0"/>
          </a:p>
        </p:txBody>
      </p:sp>
      <p:sp>
        <p:nvSpPr>
          <p:cNvPr id="17" name="Text 15"/>
          <p:cNvSpPr/>
          <p:nvPr/>
        </p:nvSpPr>
        <p:spPr>
          <a:xfrm>
            <a:off x="812800" y="4815839"/>
            <a:ext cx="10566400" cy="1026160"/>
          </a:xfrm>
          <a:prstGeom prst="roundRect">
            <a:avLst>
              <a:gd name="adj" fmla="val 9901"/>
            </a:avLst>
          </a:prstGeom>
          <a:solidFill>
            <a:srgbClr val="16263C"/>
          </a:solidFill>
          <a:ln/>
        </p:spPr>
        <p:txBody>
          <a:bodyPr wrap="square" lIns="249642" tIns="198842" rIns="0" bIns="173442" rtlCol="0" anchor="t">
            <a:normAutofit/>
          </a:bodyPr>
          <a:lstStyle/>
          <a:p>
            <a:pPr marL="0" indent="0" algn="l">
              <a:lnSpc>
                <a:spcPts val="2240"/>
              </a:lnSpc>
              <a:buNone/>
            </a:pPr>
            <a:r>
              <a:rPr lang="en-US" sz="1600" dirty="0">
                <a:solidFill>
                  <a:srgbClr val="FAF8F3"/>
                </a:solidFill>
                <a:latin typeface="IBM Plex Sans" pitchFamily="34" charset="0"/>
                <a:ea typeface="IBM Plex Sans" pitchFamily="34" charset="-122"/>
                <a:cs typeface="IBM Plex Sans" pitchFamily="34" charset="-120"/>
              </a:rPr>
              <a:t>La seconda giornata è stata dedicata a dottorandi e </a:t>
            </a:r>
            <a:r>
              <a:rPr lang="en-US" sz="1600" dirty="0" err="1">
                <a:solidFill>
                  <a:srgbClr val="FAF8F3"/>
                </a:solidFill>
                <a:latin typeface="IBM Plex Sans" pitchFamily="34" charset="0"/>
                <a:ea typeface="IBM Plex Sans" pitchFamily="34" charset="-122"/>
                <a:cs typeface="IBM Plex Sans" pitchFamily="34" charset="-120"/>
              </a:rPr>
              <a:t>giovani</a:t>
            </a:r>
            <a:r>
              <a:rPr lang="en-US" sz="1600" dirty="0">
                <a:solidFill>
                  <a:srgbClr val="FAF8F3"/>
                </a:solidFill>
                <a:latin typeface="IBM Plex Sans" pitchFamily="34" charset="0"/>
                <a:ea typeface="IBM Plex Sans" pitchFamily="34" charset="-122"/>
                <a:cs typeface="IBM Plex Sans" pitchFamily="34" charset="-120"/>
              </a:rPr>
              <a:t> </a:t>
            </a:r>
            <a:r>
              <a:rPr lang="en-US" sz="1600" dirty="0" err="1">
                <a:solidFill>
                  <a:srgbClr val="FAF8F3"/>
                </a:solidFill>
                <a:latin typeface="IBM Plex Sans" pitchFamily="34" charset="0"/>
                <a:ea typeface="IBM Plex Sans" pitchFamily="34" charset="-122"/>
                <a:cs typeface="IBM Plex Sans" pitchFamily="34" charset="-120"/>
              </a:rPr>
              <a:t>ricercatori</a:t>
            </a:r>
            <a:endParaRPr lang="en-US" sz="1600" dirty="0"/>
          </a:p>
        </p:txBody>
      </p:sp>
      <p:sp>
        <p:nvSpPr>
          <p:cNvPr id="18" name="Text 16"/>
          <p:cNvSpPr/>
          <p:nvPr/>
        </p:nvSpPr>
        <p:spPr>
          <a:xfrm>
            <a:off x="812800" y="6220461"/>
            <a:ext cx="10883392" cy="256540"/>
          </a:xfrm>
          <a:prstGeom prst="rect">
            <a:avLst/>
          </a:prstGeom>
          <a:noFill/>
          <a:ln/>
        </p:spPr>
        <p:txBody>
          <a:bodyPr wrap="square" lIns="0" tIns="0" rIns="0" bIns="0" rtlCol="0" anchor="t">
            <a:normAutofit/>
          </a:bodyPr>
          <a:lstStyle/>
          <a:p>
            <a:pPr marL="0" indent="0" algn="l">
              <a:lnSpc>
                <a:spcPts val="1820"/>
              </a:lnSpc>
              <a:buNone/>
            </a:pP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6263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200" dirty="0">
                <a:solidFill>
                  <a:srgbClr val="6FBFAE"/>
                </a:solidFill>
                <a:latin typeface="IBM Plex Sans" pitchFamily="34" charset="0"/>
                <a:ea typeface="IBM Plex Sans" pitchFamily="34" charset="-122"/>
                <a:cs typeface="IBM Plex Sans" pitchFamily="34" charset="-120"/>
              </a:rPr>
              <a:t>IN CHIUSURA</a:t>
            </a:r>
            <a:endParaRPr lang="en-US" sz="1300" dirty="0"/>
          </a:p>
        </p:txBody>
      </p:sp>
      <p:sp>
        <p:nvSpPr>
          <p:cNvPr id="3" name="Text 1"/>
          <p:cNvSpPr>
            <a:spLocks noGrp="1"/>
          </p:cNvSpPr>
          <p:nvPr>
            <p:ph type="title"/>
          </p:nvPr>
        </p:nvSpPr>
        <p:spPr>
          <a:xfrm>
            <a:off x="812800" y="1170939"/>
            <a:ext cx="10883392" cy="521970"/>
          </a:xfrm>
          <a:prstGeom prst="rect">
            <a:avLst/>
          </a:prstGeom>
          <a:noFill/>
          <a:ln/>
        </p:spPr>
        <p:txBody>
          <a:bodyPr wrap="square" lIns="0" tIns="0" rIns="0" bIns="0" rtlCol="0" anchor="t">
            <a:normAutofit/>
          </a:bodyPr>
          <a:lstStyle/>
          <a:p>
            <a:pPr marL="0" indent="0" algn="l">
              <a:lnSpc>
                <a:spcPts val="3910"/>
              </a:lnSpc>
              <a:buNone/>
            </a:pPr>
            <a:r>
              <a:rPr lang="en-US" sz="3400" b="1" i="0" dirty="0" err="1">
                <a:solidFill>
                  <a:srgbClr val="FAF8F3"/>
                </a:solidFill>
                <a:latin typeface="Source Serif 4" pitchFamily="18" charset="0"/>
                <a:ea typeface="Source Serif 4" pitchFamily="18" charset="-122"/>
                <a:cs typeface="Source Serif 4" pitchFamily="18" charset="-120"/>
              </a:rPr>
              <a:t>Nuove</a:t>
            </a:r>
            <a:r>
              <a:rPr lang="en-US" sz="3400" b="1" i="0" dirty="0">
                <a:solidFill>
                  <a:srgbClr val="FAF8F3"/>
                </a:solidFill>
                <a:latin typeface="Source Serif 4" pitchFamily="18" charset="0"/>
                <a:ea typeface="Source Serif 4" pitchFamily="18" charset="-122"/>
                <a:cs typeface="Source Serif 4" pitchFamily="18" charset="-120"/>
              </a:rPr>
              <a:t> </a:t>
            </a:r>
            <a:r>
              <a:rPr lang="en-US" sz="3400" b="1" i="0" dirty="0" err="1">
                <a:solidFill>
                  <a:srgbClr val="FAF8F3"/>
                </a:solidFill>
                <a:latin typeface="Source Serif 4" pitchFamily="18" charset="0"/>
                <a:ea typeface="Source Serif 4" pitchFamily="18" charset="-122"/>
                <a:cs typeface="Source Serif 4" pitchFamily="18" charset="-120"/>
              </a:rPr>
              <a:t>opportunità</a:t>
            </a:r>
            <a:endParaRPr lang="en-US" sz="3400" dirty="0"/>
          </a:p>
        </p:txBody>
      </p:sp>
      <p:sp>
        <p:nvSpPr>
          <p:cNvPr id="4" name="Shape 2"/>
          <p:cNvSpPr/>
          <p:nvPr/>
        </p:nvSpPr>
        <p:spPr>
          <a:xfrm>
            <a:off x="812800" y="2540319"/>
            <a:ext cx="3386614" cy="0"/>
          </a:xfrm>
          <a:prstGeom prst="line">
            <a:avLst/>
          </a:prstGeom>
          <a:noFill/>
          <a:ln w="31750">
            <a:solidFill>
              <a:srgbClr val="6FBFAE"/>
            </a:solidFill>
            <a:prstDash val="solid"/>
          </a:ln>
        </p:spPr>
      </p:sp>
      <p:sp>
        <p:nvSpPr>
          <p:cNvPr id="5" name="Text 3"/>
          <p:cNvSpPr/>
          <p:nvPr/>
        </p:nvSpPr>
        <p:spPr>
          <a:xfrm>
            <a:off x="812800" y="2732723"/>
            <a:ext cx="3488212" cy="295275"/>
          </a:xfrm>
          <a:prstGeom prst="rect">
            <a:avLst/>
          </a:prstGeom>
          <a:noFill/>
          <a:ln/>
        </p:spPr>
        <p:txBody>
          <a:bodyPr wrap="square" lIns="0" tIns="0" rIns="0" bIns="0" rtlCol="0" anchor="t">
            <a:normAutofit/>
          </a:bodyPr>
          <a:lstStyle/>
          <a:p>
            <a:pPr marL="0" indent="0" algn="l">
              <a:lnSpc>
                <a:spcPts val="2125"/>
              </a:lnSpc>
              <a:buNone/>
            </a:pPr>
            <a:r>
              <a:rPr lang="en-US" sz="1700" b="1" dirty="0">
                <a:solidFill>
                  <a:srgbClr val="FAF8F3"/>
                </a:solidFill>
                <a:latin typeface="IBM Plex Sans" pitchFamily="34" charset="0"/>
                <a:ea typeface="IBM Plex Sans" pitchFamily="34" charset="-122"/>
                <a:cs typeface="IBM Plex Sans" pitchFamily="34" charset="-120"/>
              </a:rPr>
              <a:t>Competenze trasferibili</a:t>
            </a:r>
            <a:endParaRPr lang="en-US" sz="1700" dirty="0"/>
          </a:p>
        </p:txBody>
      </p:sp>
      <p:sp>
        <p:nvSpPr>
          <p:cNvPr id="6" name="Text 4"/>
          <p:cNvSpPr/>
          <p:nvPr/>
        </p:nvSpPr>
        <p:spPr>
          <a:xfrm>
            <a:off x="812800" y="3091498"/>
            <a:ext cx="3488212" cy="1314450"/>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BFD0DE"/>
                </a:solidFill>
                <a:latin typeface="IBM Plex Sans" pitchFamily="34" charset="0"/>
                <a:ea typeface="IBM Plex Sans" pitchFamily="34" charset="-122"/>
                <a:cs typeface="IBM Plex Sans" pitchFamily="34" charset="-120"/>
              </a:rPr>
              <a:t>Le procedure messe a punto non sono legate a un singolo bersaglio terapeutico né a un singolo patogeno e sono applicabili in ambito infettivologico come in ambito oncologico</a:t>
            </a:r>
            <a:endParaRPr lang="en-US" sz="1400" dirty="0"/>
          </a:p>
        </p:txBody>
      </p:sp>
      <p:sp>
        <p:nvSpPr>
          <p:cNvPr id="7" name="Shape 5"/>
          <p:cNvSpPr/>
          <p:nvPr/>
        </p:nvSpPr>
        <p:spPr>
          <a:xfrm>
            <a:off x="4402614" y="2540319"/>
            <a:ext cx="3386693" cy="0"/>
          </a:xfrm>
          <a:prstGeom prst="line">
            <a:avLst/>
          </a:prstGeom>
          <a:noFill/>
          <a:ln w="31750">
            <a:solidFill>
              <a:srgbClr val="6FBFAE"/>
            </a:solidFill>
            <a:prstDash val="solid"/>
          </a:ln>
        </p:spPr>
      </p:sp>
      <p:sp>
        <p:nvSpPr>
          <p:cNvPr id="8" name="Text 6"/>
          <p:cNvSpPr/>
          <p:nvPr/>
        </p:nvSpPr>
        <p:spPr>
          <a:xfrm>
            <a:off x="4402614" y="2732723"/>
            <a:ext cx="3488294" cy="295275"/>
          </a:xfrm>
          <a:prstGeom prst="rect">
            <a:avLst/>
          </a:prstGeom>
          <a:noFill/>
          <a:ln/>
        </p:spPr>
        <p:txBody>
          <a:bodyPr wrap="square" lIns="0" tIns="0" rIns="0" bIns="0" rtlCol="0" anchor="t">
            <a:normAutofit/>
          </a:bodyPr>
          <a:lstStyle/>
          <a:p>
            <a:pPr marL="0" indent="0" algn="l">
              <a:lnSpc>
                <a:spcPts val="2125"/>
              </a:lnSpc>
              <a:buNone/>
            </a:pPr>
            <a:r>
              <a:rPr lang="en-US" sz="1700" b="1" dirty="0">
                <a:solidFill>
                  <a:srgbClr val="FAF8F3"/>
                </a:solidFill>
                <a:latin typeface="IBM Plex Sans" pitchFamily="34" charset="0"/>
                <a:ea typeface="IBM Plex Sans" pitchFamily="34" charset="-122"/>
                <a:cs typeface="IBM Plex Sans" pitchFamily="34" charset="-120"/>
              </a:rPr>
              <a:t>Due linee nuove</a:t>
            </a:r>
            <a:endParaRPr lang="en-US" sz="1700" dirty="0"/>
          </a:p>
        </p:txBody>
      </p:sp>
      <p:sp>
        <p:nvSpPr>
          <p:cNvPr id="9" name="Text 7"/>
          <p:cNvSpPr/>
          <p:nvPr/>
        </p:nvSpPr>
        <p:spPr>
          <a:xfrm>
            <a:off x="4402614" y="3091498"/>
            <a:ext cx="3488294" cy="1056640"/>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BFD0DE"/>
                </a:solidFill>
                <a:latin typeface="IBM Plex Sans" pitchFamily="34" charset="0"/>
                <a:ea typeface="IBM Plex Sans" pitchFamily="34" charset="-122"/>
                <a:cs typeface="IBM Plex Sans" pitchFamily="34" charset="-120"/>
              </a:rPr>
              <a:t>Robustezza dei modelli su architetture di calcolo non convenzionali e impiego di famiglie di reti neurali alternative a quelle finora utilizzate</a:t>
            </a:r>
            <a:endParaRPr lang="en-US" sz="1400" dirty="0"/>
          </a:p>
        </p:txBody>
      </p:sp>
      <p:sp>
        <p:nvSpPr>
          <p:cNvPr id="10" name="Shape 8"/>
          <p:cNvSpPr/>
          <p:nvPr/>
        </p:nvSpPr>
        <p:spPr>
          <a:xfrm>
            <a:off x="7992507" y="2540319"/>
            <a:ext cx="3386693" cy="0"/>
          </a:xfrm>
          <a:prstGeom prst="line">
            <a:avLst/>
          </a:prstGeom>
          <a:noFill/>
          <a:ln w="31750">
            <a:solidFill>
              <a:srgbClr val="D99B3E"/>
            </a:solidFill>
            <a:prstDash val="solid"/>
          </a:ln>
        </p:spPr>
      </p:sp>
      <p:sp>
        <p:nvSpPr>
          <p:cNvPr id="11" name="Text 9"/>
          <p:cNvSpPr/>
          <p:nvPr/>
        </p:nvSpPr>
        <p:spPr>
          <a:xfrm>
            <a:off x="7992507" y="2732723"/>
            <a:ext cx="3488294" cy="295275"/>
          </a:xfrm>
          <a:prstGeom prst="rect">
            <a:avLst/>
          </a:prstGeom>
          <a:noFill/>
          <a:ln/>
        </p:spPr>
        <p:txBody>
          <a:bodyPr wrap="square" lIns="0" tIns="0" rIns="0" bIns="0" rtlCol="0" anchor="t">
            <a:normAutofit/>
          </a:bodyPr>
          <a:lstStyle/>
          <a:p>
            <a:pPr marL="0" indent="0" algn="l">
              <a:lnSpc>
                <a:spcPts val="2125"/>
              </a:lnSpc>
              <a:buNone/>
            </a:pPr>
            <a:r>
              <a:rPr lang="en-US" sz="1700" b="1" dirty="0" err="1">
                <a:solidFill>
                  <a:srgbClr val="FAF8F3"/>
                </a:solidFill>
                <a:latin typeface="IBM Plex Sans" pitchFamily="34" charset="0"/>
                <a:ea typeface="IBM Plex Sans" pitchFamily="34" charset="-122"/>
                <a:cs typeface="IBM Plex Sans" pitchFamily="34" charset="-120"/>
              </a:rPr>
              <a:t>Nuove</a:t>
            </a:r>
            <a:r>
              <a:rPr lang="en-US" sz="1700" b="1" dirty="0">
                <a:solidFill>
                  <a:srgbClr val="FAF8F3"/>
                </a:solidFill>
                <a:latin typeface="IBM Plex Sans" pitchFamily="34" charset="0"/>
                <a:ea typeface="IBM Plex Sans" pitchFamily="34" charset="-122"/>
                <a:cs typeface="IBM Plex Sans" pitchFamily="34" charset="-120"/>
              </a:rPr>
              <a:t> </a:t>
            </a:r>
            <a:r>
              <a:rPr lang="en-US" sz="1700" b="1" dirty="0" err="1">
                <a:solidFill>
                  <a:srgbClr val="FAF8F3"/>
                </a:solidFill>
                <a:latin typeface="IBM Plex Sans" pitchFamily="34" charset="0"/>
                <a:ea typeface="IBM Plex Sans" pitchFamily="34" charset="-122"/>
                <a:cs typeface="IBM Plex Sans" pitchFamily="34" charset="-120"/>
              </a:rPr>
              <a:t>collaborazioni</a:t>
            </a:r>
            <a:endParaRPr lang="en-US" sz="1700" dirty="0"/>
          </a:p>
        </p:txBody>
      </p:sp>
      <p:sp>
        <p:nvSpPr>
          <p:cNvPr id="12" name="Text 10"/>
          <p:cNvSpPr/>
          <p:nvPr/>
        </p:nvSpPr>
        <p:spPr>
          <a:xfrm>
            <a:off x="7992507" y="3091498"/>
            <a:ext cx="3488294" cy="798830"/>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BFD0DE"/>
                </a:solidFill>
                <a:latin typeface="IBM Plex Sans" pitchFamily="34" charset="0"/>
                <a:ea typeface="IBM Plex Sans" pitchFamily="34" charset="-122"/>
                <a:cs typeface="IBM Plex Sans" pitchFamily="34" charset="-120"/>
              </a:rPr>
              <a:t>Collaborazione stabile con Cambridge e proposte di tesi per gli studenti del master in Systems Biology</a:t>
            </a:r>
            <a:endParaRPr lang="en-US" sz="1400" dirty="0"/>
          </a:p>
        </p:txBody>
      </p:sp>
      <p:sp>
        <p:nvSpPr>
          <p:cNvPr id="13" name="Text 11"/>
          <p:cNvSpPr/>
          <p:nvPr/>
        </p:nvSpPr>
        <p:spPr>
          <a:xfrm>
            <a:off x="812800" y="5237479"/>
            <a:ext cx="10203180" cy="629920"/>
          </a:xfrm>
          <a:prstGeom prst="rect">
            <a:avLst/>
          </a:prstGeom>
          <a:noFill/>
          <a:ln/>
        </p:spPr>
        <p:txBody>
          <a:bodyPr wrap="square" lIns="0" tIns="0" rIns="0" bIns="0" rtlCol="0" anchor="t">
            <a:normAutofit/>
          </a:bodyPr>
          <a:lstStyle/>
          <a:p>
            <a:pPr marL="0" indent="0" algn="l">
              <a:lnSpc>
                <a:spcPts val="2380"/>
              </a:lnSpc>
              <a:buNone/>
            </a:pPr>
            <a:r>
              <a:rPr lang="en-US" sz="1700" dirty="0" err="1">
                <a:solidFill>
                  <a:srgbClr val="FAF8F3"/>
                </a:solidFill>
                <a:latin typeface="IBM Plex Sans" pitchFamily="34" charset="0"/>
                <a:ea typeface="IBM Plex Sans" pitchFamily="34" charset="-122"/>
                <a:cs typeface="IBM Plex Sans" pitchFamily="34" charset="-120"/>
              </a:rPr>
              <a:t>Grazie</a:t>
            </a:r>
            <a:endParaRPr lang="en-US" sz="1700" dirty="0"/>
          </a:p>
        </p:txBody>
      </p:sp>
      <p:sp>
        <p:nvSpPr>
          <p:cNvPr id="14" name="Text 12"/>
          <p:cNvSpPr/>
          <p:nvPr/>
        </p:nvSpPr>
        <p:spPr>
          <a:xfrm>
            <a:off x="812800" y="6220464"/>
            <a:ext cx="10883392" cy="256540"/>
          </a:xfrm>
          <a:prstGeom prst="rect">
            <a:avLst/>
          </a:prstGeom>
          <a:noFill/>
          <a:ln/>
        </p:spPr>
        <p:txBody>
          <a:bodyPr wrap="square" lIns="0" tIns="0" rIns="0" bIns="0" rtlCol="0" anchor="t">
            <a:normAutofit/>
          </a:bodyPr>
          <a:lstStyle/>
          <a:p>
            <a:pPr marL="0" indent="0" algn="l">
              <a:lnSpc>
                <a:spcPts val="1820"/>
              </a:lnSpc>
              <a:buNone/>
            </a:pPr>
            <a:endParaRPr lang="en-US" sz="1300" dirty="0"/>
          </a:p>
        </p:txBody>
      </p:sp>
    </p:spTree>
  </p:cSld>
  <p:clrMapOvr>
    <a:masterClrMapping/>
  </p:clrMapOvr>
</p:sld>
</file>

<file path=ppt/theme/theme1.xml><?xml version="1.0" encoding="utf-8"?>
<a:theme xmlns:a="http://schemas.openxmlformats.org/drawingml/2006/main" name="Sabbatico a Cambridge, Consiglio MAPS">
  <a:themeElements>
    <a:clrScheme name="Sabbatico a Cambridge, Consiglio MAPS">
      <a:dk1>
        <a:srgbClr val="16263C"/>
      </a:dk1>
      <a:lt1>
        <a:srgbClr val="FAF8F3"/>
      </a:lt1>
      <a:dk2>
        <a:srgbClr val="4F5B6A"/>
      </a:dk2>
      <a:lt2>
        <a:srgbClr val="E3E3E1"/>
      </a:lt2>
      <a:accent1>
        <a:srgbClr val="2E6F63"/>
      </a:accent1>
      <a:accent2>
        <a:srgbClr val="8F5A17"/>
      </a:accent2>
      <a:accent3>
        <a:srgbClr val="6FBFAE"/>
      </a:accent3>
      <a:accent4>
        <a:srgbClr val="4A5568"/>
      </a:accent4>
      <a:accent5>
        <a:srgbClr val="BFD0DE"/>
      </a:accent5>
      <a:accent6>
        <a:srgbClr val="6B7280"/>
      </a:accent6>
      <a:hlink>
        <a:srgbClr val="0563C1"/>
      </a:hlink>
      <a:folHlink>
        <a:srgbClr val="954F72"/>
      </a:folHlink>
    </a:clrScheme>
    <a:fontScheme name="Sabbatico a Cambridge, Consiglio MAPS">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TotalTime>
  <Words>1840</Words>
  <Application>Microsoft Office PowerPoint</Application>
  <PresentationFormat>Widescreen</PresentationFormat>
  <Paragraphs>120</Paragraphs>
  <Slides>8</Slides>
  <Notes>8</Notes>
  <HiddenSlides>0</HiddenSlides>
  <MMClips>0</MMClips>
  <ScaleCrop>false</ScaleCrop>
  <HeadingPairs>
    <vt:vector size="6" baseType="variant">
      <vt:variant>
        <vt:lpstr>Caratteri utilizzati</vt:lpstr>
      </vt:variant>
      <vt:variant>
        <vt:i4>4</vt:i4>
      </vt:variant>
      <vt:variant>
        <vt:lpstr>Tema</vt:lpstr>
      </vt:variant>
      <vt:variant>
        <vt:i4>1</vt:i4>
      </vt:variant>
      <vt:variant>
        <vt:lpstr>Titoli diapositive</vt:lpstr>
      </vt:variant>
      <vt:variant>
        <vt:i4>8</vt:i4>
      </vt:variant>
    </vt:vector>
  </HeadingPairs>
  <TitlesOfParts>
    <vt:vector size="13" baseType="lpstr">
      <vt:lpstr>Arial</vt:lpstr>
      <vt:lpstr>Calibri</vt:lpstr>
      <vt:lpstr>IBM Plex Sans</vt:lpstr>
      <vt:lpstr>Source Serif 4</vt:lpstr>
      <vt:lpstr>Sabbatico a Cambridge, Consiglio MAPS</vt:lpstr>
      <vt:lpstr>Periodo sabbatico all’Università di Cambridge: Relazione al Consiglio di Dipartimento</vt:lpstr>
      <vt:lpstr>Che cosa è stato prodotto</vt:lpstr>
      <vt:lpstr>LLMsFold</vt:lpstr>
      <vt:lpstr>Nuove classi di antibiotici contro Acinetobacter baumannii</vt:lpstr>
      <vt:lpstr>Cinquecento milioni di anni di metilazione</vt:lpstr>
      <vt:lpstr>Sei domande di finanziamento nate dal periodo</vt:lpstr>
      <vt:lpstr>Generative Models for Therapeutic Discovery</vt:lpstr>
      <vt:lpstr>Nuove opportunità</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Sabbatico a Cambridge, Consiglio MAPS</dc:title>
  <dc:subject/>
  <dc:creator/>
  <cp:lastModifiedBy>Cristian Taccioli</cp:lastModifiedBy>
  <cp:revision>5</cp:revision>
  <dcterms:created xsi:type="dcterms:W3CDTF">2026-10-11T17:20:07Z</dcterms:created>
  <dcterms:modified xsi:type="dcterms:W3CDTF">2026-10-11T17:45:19Z</dcterms:modified>
</cp:coreProperties>
</file>